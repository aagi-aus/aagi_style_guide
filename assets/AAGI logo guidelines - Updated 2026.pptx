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4" r:id="rId2"/>
    <p:sldId id="285" r:id="rId3"/>
    <p:sldId id="292" r:id="rId4"/>
    <p:sldId id="296" r:id="rId5"/>
    <p:sldId id="297" r:id="rId6"/>
    <p:sldId id="298" r:id="rId7"/>
    <p:sldId id="301" r:id="rId8"/>
    <p:sldId id="283" r:id="rId9"/>
    <p:sldId id="284" r:id="rId10"/>
    <p:sldId id="291" r:id="rId11"/>
    <p:sldId id="294" r:id="rId12"/>
    <p:sldId id="293" r:id="rId13"/>
    <p:sldId id="300" r:id="rId14"/>
    <p:sldId id="30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A1A1A"/>
    <a:srgbClr val="C8DC5A"/>
    <a:srgbClr val="008F97"/>
    <a:srgbClr val="FCAE2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p:cViewPr>
        <p:scale>
          <a:sx n="125" d="100"/>
          <a:sy n="125" d="100"/>
        </p:scale>
        <p:origin x="29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AC2E0-5DC6-D717-30DC-45D47092C6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187958C1-9F41-BBE3-FBCF-7439107A62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F33FC029-03CE-688E-B6C4-913BEAD95100}"/>
              </a:ext>
            </a:extLst>
          </p:cNvPr>
          <p:cNvSpPr>
            <a:spLocks noGrp="1"/>
          </p:cNvSpPr>
          <p:nvPr>
            <p:ph type="dt" sz="half" idx="10"/>
          </p:nvPr>
        </p:nvSpPr>
        <p:spPr/>
        <p:txBody>
          <a:bodyPr/>
          <a:lstStyle/>
          <a:p>
            <a:fld id="{A9A7EEA9-A5BC-49A0-BC5A-38F65BD6FA80}" type="datetimeFigureOut">
              <a:rPr lang="en-AU" smtClean="0"/>
              <a:t>16/04/2026</a:t>
            </a:fld>
            <a:endParaRPr lang="en-AU"/>
          </a:p>
        </p:txBody>
      </p:sp>
      <p:sp>
        <p:nvSpPr>
          <p:cNvPr id="5" name="Footer Placeholder 4">
            <a:extLst>
              <a:ext uri="{FF2B5EF4-FFF2-40B4-BE49-F238E27FC236}">
                <a16:creationId xmlns:a16="http://schemas.microsoft.com/office/drawing/2014/main" id="{3567E785-419C-D063-FD2C-95E2B239076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7E6B0CA-9E02-754E-20D7-B3B81C759F9E}"/>
              </a:ext>
            </a:extLst>
          </p:cNvPr>
          <p:cNvSpPr>
            <a:spLocks noGrp="1"/>
          </p:cNvSpPr>
          <p:nvPr>
            <p:ph type="sldNum" sz="quarter" idx="12"/>
          </p:nvPr>
        </p:nvSpPr>
        <p:spPr/>
        <p:txBody>
          <a:bodyPr/>
          <a:lstStyle/>
          <a:p>
            <a:fld id="{96954F6B-A3D8-4AC5-A97F-933B68F285DB}" type="slidenum">
              <a:rPr lang="en-AU" smtClean="0"/>
              <a:t>‹#›</a:t>
            </a:fld>
            <a:endParaRPr lang="en-AU"/>
          </a:p>
        </p:txBody>
      </p:sp>
    </p:spTree>
    <p:extLst>
      <p:ext uri="{BB962C8B-B14F-4D97-AF65-F5344CB8AC3E}">
        <p14:creationId xmlns:p14="http://schemas.microsoft.com/office/powerpoint/2010/main" val="26421587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1B57E-DE71-64E0-03C4-0A6BBE298491}"/>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59E757F4-A2F4-1038-7C5F-AEA103AE673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D076542-BEF1-98BE-024F-0EC6C271B546}"/>
              </a:ext>
            </a:extLst>
          </p:cNvPr>
          <p:cNvSpPr>
            <a:spLocks noGrp="1"/>
          </p:cNvSpPr>
          <p:nvPr>
            <p:ph type="dt" sz="half" idx="10"/>
          </p:nvPr>
        </p:nvSpPr>
        <p:spPr/>
        <p:txBody>
          <a:bodyPr/>
          <a:lstStyle/>
          <a:p>
            <a:fld id="{A9A7EEA9-A5BC-49A0-BC5A-38F65BD6FA80}" type="datetimeFigureOut">
              <a:rPr lang="en-AU" smtClean="0"/>
              <a:t>16/04/2026</a:t>
            </a:fld>
            <a:endParaRPr lang="en-AU"/>
          </a:p>
        </p:txBody>
      </p:sp>
      <p:sp>
        <p:nvSpPr>
          <p:cNvPr id="5" name="Footer Placeholder 4">
            <a:extLst>
              <a:ext uri="{FF2B5EF4-FFF2-40B4-BE49-F238E27FC236}">
                <a16:creationId xmlns:a16="http://schemas.microsoft.com/office/drawing/2014/main" id="{3516E3BC-703F-055F-40AA-E30C4214563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0C3B488-C7D0-5132-A855-004B5C6F6012}"/>
              </a:ext>
            </a:extLst>
          </p:cNvPr>
          <p:cNvSpPr>
            <a:spLocks noGrp="1"/>
          </p:cNvSpPr>
          <p:nvPr>
            <p:ph type="sldNum" sz="quarter" idx="12"/>
          </p:nvPr>
        </p:nvSpPr>
        <p:spPr/>
        <p:txBody>
          <a:bodyPr/>
          <a:lstStyle/>
          <a:p>
            <a:fld id="{96954F6B-A3D8-4AC5-A97F-933B68F285DB}" type="slidenum">
              <a:rPr lang="en-AU" smtClean="0"/>
              <a:t>‹#›</a:t>
            </a:fld>
            <a:endParaRPr lang="en-AU"/>
          </a:p>
        </p:txBody>
      </p:sp>
    </p:spTree>
    <p:extLst>
      <p:ext uri="{BB962C8B-B14F-4D97-AF65-F5344CB8AC3E}">
        <p14:creationId xmlns:p14="http://schemas.microsoft.com/office/powerpoint/2010/main" val="18403787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A73FC-D7BF-409D-1CA6-2009F60D31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E52517CE-C11B-6F8C-F8A4-2738D9D7AD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7E1DD32-2246-24CF-24A3-3D2B5AAF79F2}"/>
              </a:ext>
            </a:extLst>
          </p:cNvPr>
          <p:cNvSpPr>
            <a:spLocks noGrp="1"/>
          </p:cNvSpPr>
          <p:nvPr>
            <p:ph type="dt" sz="half" idx="10"/>
          </p:nvPr>
        </p:nvSpPr>
        <p:spPr/>
        <p:txBody>
          <a:bodyPr/>
          <a:lstStyle/>
          <a:p>
            <a:fld id="{A9A7EEA9-A5BC-49A0-BC5A-38F65BD6FA80}" type="datetimeFigureOut">
              <a:rPr lang="en-AU" smtClean="0"/>
              <a:t>16/04/2026</a:t>
            </a:fld>
            <a:endParaRPr lang="en-AU"/>
          </a:p>
        </p:txBody>
      </p:sp>
      <p:sp>
        <p:nvSpPr>
          <p:cNvPr id="5" name="Footer Placeholder 4">
            <a:extLst>
              <a:ext uri="{FF2B5EF4-FFF2-40B4-BE49-F238E27FC236}">
                <a16:creationId xmlns:a16="http://schemas.microsoft.com/office/drawing/2014/main" id="{94A4E742-BC9E-3DB7-4A84-E2C45B4A6F3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FE6B534-1D91-CA34-F8C1-921D2F189F97}"/>
              </a:ext>
            </a:extLst>
          </p:cNvPr>
          <p:cNvSpPr>
            <a:spLocks noGrp="1"/>
          </p:cNvSpPr>
          <p:nvPr>
            <p:ph type="sldNum" sz="quarter" idx="12"/>
          </p:nvPr>
        </p:nvSpPr>
        <p:spPr/>
        <p:txBody>
          <a:bodyPr/>
          <a:lstStyle/>
          <a:p>
            <a:fld id="{96954F6B-A3D8-4AC5-A97F-933B68F285DB}" type="slidenum">
              <a:rPr lang="en-AU" smtClean="0"/>
              <a:t>‹#›</a:t>
            </a:fld>
            <a:endParaRPr lang="en-AU"/>
          </a:p>
        </p:txBody>
      </p:sp>
    </p:spTree>
    <p:extLst>
      <p:ext uri="{BB962C8B-B14F-4D97-AF65-F5344CB8AC3E}">
        <p14:creationId xmlns:p14="http://schemas.microsoft.com/office/powerpoint/2010/main" val="6590031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BA3A5-798A-E01B-514B-43C4F7BA89AE}"/>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A59317BC-95FB-32B1-E75E-FA2EED4CF3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A57961E3-CCC9-DC71-E8C3-F6E89BDA36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71E21E72-4652-7EE3-6B37-92DDD42AFD7D}"/>
              </a:ext>
            </a:extLst>
          </p:cNvPr>
          <p:cNvSpPr>
            <a:spLocks noGrp="1"/>
          </p:cNvSpPr>
          <p:nvPr>
            <p:ph type="dt" sz="half" idx="10"/>
          </p:nvPr>
        </p:nvSpPr>
        <p:spPr/>
        <p:txBody>
          <a:bodyPr/>
          <a:lstStyle/>
          <a:p>
            <a:fld id="{A9A7EEA9-A5BC-49A0-BC5A-38F65BD6FA80}" type="datetimeFigureOut">
              <a:rPr lang="en-AU" smtClean="0"/>
              <a:t>16/04/2026</a:t>
            </a:fld>
            <a:endParaRPr lang="en-AU"/>
          </a:p>
        </p:txBody>
      </p:sp>
      <p:sp>
        <p:nvSpPr>
          <p:cNvPr id="6" name="Footer Placeholder 5">
            <a:extLst>
              <a:ext uri="{FF2B5EF4-FFF2-40B4-BE49-F238E27FC236}">
                <a16:creationId xmlns:a16="http://schemas.microsoft.com/office/drawing/2014/main" id="{E7957C01-D635-AF86-26ED-684FBAF3290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9AFB4C0B-9655-A558-B7A2-982E63105D71}"/>
              </a:ext>
            </a:extLst>
          </p:cNvPr>
          <p:cNvSpPr>
            <a:spLocks noGrp="1"/>
          </p:cNvSpPr>
          <p:nvPr>
            <p:ph type="sldNum" sz="quarter" idx="12"/>
          </p:nvPr>
        </p:nvSpPr>
        <p:spPr/>
        <p:txBody>
          <a:bodyPr/>
          <a:lstStyle/>
          <a:p>
            <a:fld id="{96954F6B-A3D8-4AC5-A97F-933B68F285DB}" type="slidenum">
              <a:rPr lang="en-AU" smtClean="0"/>
              <a:t>‹#›</a:t>
            </a:fld>
            <a:endParaRPr lang="en-AU"/>
          </a:p>
        </p:txBody>
      </p:sp>
    </p:spTree>
    <p:extLst>
      <p:ext uri="{BB962C8B-B14F-4D97-AF65-F5344CB8AC3E}">
        <p14:creationId xmlns:p14="http://schemas.microsoft.com/office/powerpoint/2010/main" val="14454548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F8A95-D0D9-F4D5-EC6D-8C6F959502BE}"/>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01E25D0C-A62E-94E4-CEF7-86B9BB1F9F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9165E5-F26A-97AB-DC14-9DFFC9AED10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37BFC5BC-4937-DE1C-62A0-8045784D47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7FA481C-34A3-1594-09BB-B16C5FE4A1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E7D50B4D-E383-823A-6FDD-2A539EE01E02}"/>
              </a:ext>
            </a:extLst>
          </p:cNvPr>
          <p:cNvSpPr>
            <a:spLocks noGrp="1"/>
          </p:cNvSpPr>
          <p:nvPr>
            <p:ph type="dt" sz="half" idx="10"/>
          </p:nvPr>
        </p:nvSpPr>
        <p:spPr/>
        <p:txBody>
          <a:bodyPr/>
          <a:lstStyle/>
          <a:p>
            <a:fld id="{A9A7EEA9-A5BC-49A0-BC5A-38F65BD6FA80}" type="datetimeFigureOut">
              <a:rPr lang="en-AU" smtClean="0"/>
              <a:t>16/04/2026</a:t>
            </a:fld>
            <a:endParaRPr lang="en-AU"/>
          </a:p>
        </p:txBody>
      </p:sp>
      <p:sp>
        <p:nvSpPr>
          <p:cNvPr id="8" name="Footer Placeholder 7">
            <a:extLst>
              <a:ext uri="{FF2B5EF4-FFF2-40B4-BE49-F238E27FC236}">
                <a16:creationId xmlns:a16="http://schemas.microsoft.com/office/drawing/2014/main" id="{4DD96662-7E6B-7568-A9BA-A5F5ADDD1024}"/>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48D88E12-F24A-A81E-A00D-DB8292E34E2A}"/>
              </a:ext>
            </a:extLst>
          </p:cNvPr>
          <p:cNvSpPr>
            <a:spLocks noGrp="1"/>
          </p:cNvSpPr>
          <p:nvPr>
            <p:ph type="sldNum" sz="quarter" idx="12"/>
          </p:nvPr>
        </p:nvSpPr>
        <p:spPr/>
        <p:txBody>
          <a:bodyPr/>
          <a:lstStyle/>
          <a:p>
            <a:fld id="{96954F6B-A3D8-4AC5-A97F-933B68F285DB}" type="slidenum">
              <a:rPr lang="en-AU" smtClean="0"/>
              <a:t>‹#›</a:t>
            </a:fld>
            <a:endParaRPr lang="en-AU"/>
          </a:p>
        </p:txBody>
      </p:sp>
    </p:spTree>
    <p:extLst>
      <p:ext uri="{BB962C8B-B14F-4D97-AF65-F5344CB8AC3E}">
        <p14:creationId xmlns:p14="http://schemas.microsoft.com/office/powerpoint/2010/main" val="11406399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799FE-B3F2-B897-C090-A052A20A3B89}"/>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DE8EDF57-7B8D-90D5-C2E0-A65ED6FCC384}"/>
              </a:ext>
            </a:extLst>
          </p:cNvPr>
          <p:cNvSpPr>
            <a:spLocks noGrp="1"/>
          </p:cNvSpPr>
          <p:nvPr>
            <p:ph type="dt" sz="half" idx="10"/>
          </p:nvPr>
        </p:nvSpPr>
        <p:spPr/>
        <p:txBody>
          <a:bodyPr/>
          <a:lstStyle/>
          <a:p>
            <a:fld id="{A9A7EEA9-A5BC-49A0-BC5A-38F65BD6FA80}" type="datetimeFigureOut">
              <a:rPr lang="en-AU" smtClean="0"/>
              <a:t>16/04/2026</a:t>
            </a:fld>
            <a:endParaRPr lang="en-AU"/>
          </a:p>
        </p:txBody>
      </p:sp>
      <p:sp>
        <p:nvSpPr>
          <p:cNvPr id="4" name="Footer Placeholder 3">
            <a:extLst>
              <a:ext uri="{FF2B5EF4-FFF2-40B4-BE49-F238E27FC236}">
                <a16:creationId xmlns:a16="http://schemas.microsoft.com/office/drawing/2014/main" id="{F27BC15B-8690-1506-C566-E90A0C0E4DA8}"/>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8B979227-E752-47CD-892A-6309B3807E8E}"/>
              </a:ext>
            </a:extLst>
          </p:cNvPr>
          <p:cNvSpPr>
            <a:spLocks noGrp="1"/>
          </p:cNvSpPr>
          <p:nvPr>
            <p:ph type="sldNum" sz="quarter" idx="12"/>
          </p:nvPr>
        </p:nvSpPr>
        <p:spPr/>
        <p:txBody>
          <a:bodyPr/>
          <a:lstStyle/>
          <a:p>
            <a:fld id="{96954F6B-A3D8-4AC5-A97F-933B68F285DB}" type="slidenum">
              <a:rPr lang="en-AU" smtClean="0"/>
              <a:t>‹#›</a:t>
            </a:fld>
            <a:endParaRPr lang="en-AU"/>
          </a:p>
        </p:txBody>
      </p:sp>
    </p:spTree>
    <p:extLst>
      <p:ext uri="{BB962C8B-B14F-4D97-AF65-F5344CB8AC3E}">
        <p14:creationId xmlns:p14="http://schemas.microsoft.com/office/powerpoint/2010/main" val="5416301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562A96-B543-057A-D592-08129A5C7893}"/>
              </a:ext>
            </a:extLst>
          </p:cNvPr>
          <p:cNvSpPr>
            <a:spLocks noGrp="1"/>
          </p:cNvSpPr>
          <p:nvPr>
            <p:ph type="dt" sz="half" idx="10"/>
          </p:nvPr>
        </p:nvSpPr>
        <p:spPr/>
        <p:txBody>
          <a:bodyPr/>
          <a:lstStyle/>
          <a:p>
            <a:fld id="{A9A7EEA9-A5BC-49A0-BC5A-38F65BD6FA80}" type="datetimeFigureOut">
              <a:rPr lang="en-AU" smtClean="0"/>
              <a:t>16/04/2026</a:t>
            </a:fld>
            <a:endParaRPr lang="en-AU"/>
          </a:p>
        </p:txBody>
      </p:sp>
      <p:sp>
        <p:nvSpPr>
          <p:cNvPr id="3" name="Footer Placeholder 2">
            <a:extLst>
              <a:ext uri="{FF2B5EF4-FFF2-40B4-BE49-F238E27FC236}">
                <a16:creationId xmlns:a16="http://schemas.microsoft.com/office/drawing/2014/main" id="{46F2E935-BC6A-0E4D-ED2E-FC27A839283D}"/>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89605B3E-08F6-636D-1728-53B5332EDD8D}"/>
              </a:ext>
            </a:extLst>
          </p:cNvPr>
          <p:cNvSpPr>
            <a:spLocks noGrp="1"/>
          </p:cNvSpPr>
          <p:nvPr>
            <p:ph type="sldNum" sz="quarter" idx="12"/>
          </p:nvPr>
        </p:nvSpPr>
        <p:spPr/>
        <p:txBody>
          <a:bodyPr/>
          <a:lstStyle/>
          <a:p>
            <a:fld id="{96954F6B-A3D8-4AC5-A97F-933B68F285DB}" type="slidenum">
              <a:rPr lang="en-AU" smtClean="0"/>
              <a:t>‹#›</a:t>
            </a:fld>
            <a:endParaRPr lang="en-AU"/>
          </a:p>
        </p:txBody>
      </p:sp>
    </p:spTree>
    <p:extLst>
      <p:ext uri="{BB962C8B-B14F-4D97-AF65-F5344CB8AC3E}">
        <p14:creationId xmlns:p14="http://schemas.microsoft.com/office/powerpoint/2010/main" val="2796040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35850-512F-B0A9-9C9A-8E97D7C9F5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FFE701CA-9FC1-7F47-DA0A-B730A99774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A8527A44-91D5-9894-DD33-F08EFCE30D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574F88-1997-8E08-0DDB-E09D772DA6B1}"/>
              </a:ext>
            </a:extLst>
          </p:cNvPr>
          <p:cNvSpPr>
            <a:spLocks noGrp="1"/>
          </p:cNvSpPr>
          <p:nvPr>
            <p:ph type="dt" sz="half" idx="10"/>
          </p:nvPr>
        </p:nvSpPr>
        <p:spPr/>
        <p:txBody>
          <a:bodyPr/>
          <a:lstStyle/>
          <a:p>
            <a:fld id="{A9A7EEA9-A5BC-49A0-BC5A-38F65BD6FA80}" type="datetimeFigureOut">
              <a:rPr lang="en-AU" smtClean="0"/>
              <a:t>16/04/2026</a:t>
            </a:fld>
            <a:endParaRPr lang="en-AU"/>
          </a:p>
        </p:txBody>
      </p:sp>
      <p:sp>
        <p:nvSpPr>
          <p:cNvPr id="6" name="Footer Placeholder 5">
            <a:extLst>
              <a:ext uri="{FF2B5EF4-FFF2-40B4-BE49-F238E27FC236}">
                <a16:creationId xmlns:a16="http://schemas.microsoft.com/office/drawing/2014/main" id="{B0D95648-AF9D-503D-383C-613CF0D1686B}"/>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6C06C51F-28E6-C414-4A28-D1A26C8A745F}"/>
              </a:ext>
            </a:extLst>
          </p:cNvPr>
          <p:cNvSpPr>
            <a:spLocks noGrp="1"/>
          </p:cNvSpPr>
          <p:nvPr>
            <p:ph type="sldNum" sz="quarter" idx="12"/>
          </p:nvPr>
        </p:nvSpPr>
        <p:spPr/>
        <p:txBody>
          <a:bodyPr/>
          <a:lstStyle/>
          <a:p>
            <a:fld id="{96954F6B-A3D8-4AC5-A97F-933B68F285DB}" type="slidenum">
              <a:rPr lang="en-AU" smtClean="0"/>
              <a:t>‹#›</a:t>
            </a:fld>
            <a:endParaRPr lang="en-AU"/>
          </a:p>
        </p:txBody>
      </p:sp>
    </p:spTree>
    <p:extLst>
      <p:ext uri="{BB962C8B-B14F-4D97-AF65-F5344CB8AC3E}">
        <p14:creationId xmlns:p14="http://schemas.microsoft.com/office/powerpoint/2010/main" val="23255940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7770E-2AB4-7D4B-CF2A-9A10FB909D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412031B8-0D67-8B63-912C-DFF178D69D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0692C7B0-CA40-67E1-8D52-B9B052EA0A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BAD47C-B847-1165-2F0C-E0337E9EE829}"/>
              </a:ext>
            </a:extLst>
          </p:cNvPr>
          <p:cNvSpPr>
            <a:spLocks noGrp="1"/>
          </p:cNvSpPr>
          <p:nvPr>
            <p:ph type="dt" sz="half" idx="10"/>
          </p:nvPr>
        </p:nvSpPr>
        <p:spPr/>
        <p:txBody>
          <a:bodyPr/>
          <a:lstStyle/>
          <a:p>
            <a:fld id="{A9A7EEA9-A5BC-49A0-BC5A-38F65BD6FA80}" type="datetimeFigureOut">
              <a:rPr lang="en-AU" smtClean="0"/>
              <a:t>16/04/2026</a:t>
            </a:fld>
            <a:endParaRPr lang="en-AU"/>
          </a:p>
        </p:txBody>
      </p:sp>
      <p:sp>
        <p:nvSpPr>
          <p:cNvPr id="6" name="Footer Placeholder 5">
            <a:extLst>
              <a:ext uri="{FF2B5EF4-FFF2-40B4-BE49-F238E27FC236}">
                <a16:creationId xmlns:a16="http://schemas.microsoft.com/office/drawing/2014/main" id="{7231DE15-D0A7-245C-56C3-1582AAD8050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65B92548-57A0-12E9-9A76-C96B69163013}"/>
              </a:ext>
            </a:extLst>
          </p:cNvPr>
          <p:cNvSpPr>
            <a:spLocks noGrp="1"/>
          </p:cNvSpPr>
          <p:nvPr>
            <p:ph type="sldNum" sz="quarter" idx="12"/>
          </p:nvPr>
        </p:nvSpPr>
        <p:spPr/>
        <p:txBody>
          <a:bodyPr/>
          <a:lstStyle/>
          <a:p>
            <a:fld id="{96954F6B-A3D8-4AC5-A97F-933B68F285DB}" type="slidenum">
              <a:rPr lang="en-AU" smtClean="0"/>
              <a:t>‹#›</a:t>
            </a:fld>
            <a:endParaRPr lang="en-AU"/>
          </a:p>
        </p:txBody>
      </p:sp>
    </p:spTree>
    <p:extLst>
      <p:ext uri="{BB962C8B-B14F-4D97-AF65-F5344CB8AC3E}">
        <p14:creationId xmlns:p14="http://schemas.microsoft.com/office/powerpoint/2010/main" val="20656945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5C2CF-019B-E684-8E73-1BFCFAF8A8EE}"/>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A4E9410E-5995-DFD3-9F89-831C3B9E36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C7BFBFCF-5246-1A6F-EF2C-E5D19780DDF3}"/>
              </a:ext>
            </a:extLst>
          </p:cNvPr>
          <p:cNvSpPr>
            <a:spLocks noGrp="1"/>
          </p:cNvSpPr>
          <p:nvPr>
            <p:ph type="dt" sz="half" idx="10"/>
          </p:nvPr>
        </p:nvSpPr>
        <p:spPr/>
        <p:txBody>
          <a:bodyPr/>
          <a:lstStyle/>
          <a:p>
            <a:fld id="{A9A7EEA9-A5BC-49A0-BC5A-38F65BD6FA80}" type="datetimeFigureOut">
              <a:rPr lang="en-AU" smtClean="0"/>
              <a:t>16/04/2026</a:t>
            </a:fld>
            <a:endParaRPr lang="en-AU"/>
          </a:p>
        </p:txBody>
      </p:sp>
      <p:sp>
        <p:nvSpPr>
          <p:cNvPr id="5" name="Footer Placeholder 4">
            <a:extLst>
              <a:ext uri="{FF2B5EF4-FFF2-40B4-BE49-F238E27FC236}">
                <a16:creationId xmlns:a16="http://schemas.microsoft.com/office/drawing/2014/main" id="{3C79EC9D-E42A-4DB2-4E51-0E6CBED67BB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8689ECA-BD9E-6396-8D97-0238DD2099B5}"/>
              </a:ext>
            </a:extLst>
          </p:cNvPr>
          <p:cNvSpPr>
            <a:spLocks noGrp="1"/>
          </p:cNvSpPr>
          <p:nvPr>
            <p:ph type="sldNum" sz="quarter" idx="12"/>
          </p:nvPr>
        </p:nvSpPr>
        <p:spPr/>
        <p:txBody>
          <a:bodyPr/>
          <a:lstStyle/>
          <a:p>
            <a:fld id="{96954F6B-A3D8-4AC5-A97F-933B68F285DB}" type="slidenum">
              <a:rPr lang="en-AU" smtClean="0"/>
              <a:t>‹#›</a:t>
            </a:fld>
            <a:endParaRPr lang="en-AU"/>
          </a:p>
        </p:txBody>
      </p:sp>
    </p:spTree>
    <p:extLst>
      <p:ext uri="{BB962C8B-B14F-4D97-AF65-F5344CB8AC3E}">
        <p14:creationId xmlns:p14="http://schemas.microsoft.com/office/powerpoint/2010/main" val="17179955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BD2653-3143-A1D9-DB1C-66B6AB40CEC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69CD0813-B29D-DEE6-174D-3CC0E4C2E5D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22708C9-61E2-ADF1-2B48-5357AC778B33}"/>
              </a:ext>
            </a:extLst>
          </p:cNvPr>
          <p:cNvSpPr>
            <a:spLocks noGrp="1"/>
          </p:cNvSpPr>
          <p:nvPr>
            <p:ph type="dt" sz="half" idx="10"/>
          </p:nvPr>
        </p:nvSpPr>
        <p:spPr/>
        <p:txBody>
          <a:bodyPr/>
          <a:lstStyle/>
          <a:p>
            <a:fld id="{A9A7EEA9-A5BC-49A0-BC5A-38F65BD6FA80}" type="datetimeFigureOut">
              <a:rPr lang="en-AU" smtClean="0"/>
              <a:t>16/04/2026</a:t>
            </a:fld>
            <a:endParaRPr lang="en-AU"/>
          </a:p>
        </p:txBody>
      </p:sp>
      <p:sp>
        <p:nvSpPr>
          <p:cNvPr id="5" name="Footer Placeholder 4">
            <a:extLst>
              <a:ext uri="{FF2B5EF4-FFF2-40B4-BE49-F238E27FC236}">
                <a16:creationId xmlns:a16="http://schemas.microsoft.com/office/drawing/2014/main" id="{C1E84262-9F5D-746E-472B-942FDEB6042C}"/>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F38862C-3FB8-FA89-2E5C-2A9830A54191}"/>
              </a:ext>
            </a:extLst>
          </p:cNvPr>
          <p:cNvSpPr>
            <a:spLocks noGrp="1"/>
          </p:cNvSpPr>
          <p:nvPr>
            <p:ph type="sldNum" sz="quarter" idx="12"/>
          </p:nvPr>
        </p:nvSpPr>
        <p:spPr/>
        <p:txBody>
          <a:bodyPr/>
          <a:lstStyle/>
          <a:p>
            <a:fld id="{96954F6B-A3D8-4AC5-A97F-933B68F285DB}" type="slidenum">
              <a:rPr lang="en-AU" smtClean="0"/>
              <a:t>‹#›</a:t>
            </a:fld>
            <a:endParaRPr lang="en-AU"/>
          </a:p>
        </p:txBody>
      </p:sp>
    </p:spTree>
    <p:extLst>
      <p:ext uri="{BB962C8B-B14F-4D97-AF65-F5344CB8AC3E}">
        <p14:creationId xmlns:p14="http://schemas.microsoft.com/office/powerpoint/2010/main" val="30868807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67A35C-9095-7C8D-4CC8-B8DA208DC2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1ED10B56-FF53-2B4C-9609-1453FBDFE0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3D51823C-8E6E-9E23-1957-36A3D7C537C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A7EEA9-A5BC-49A0-BC5A-38F65BD6FA80}" type="datetimeFigureOut">
              <a:rPr lang="en-AU" smtClean="0"/>
              <a:t>16/04/2026</a:t>
            </a:fld>
            <a:endParaRPr lang="en-AU"/>
          </a:p>
        </p:txBody>
      </p:sp>
      <p:sp>
        <p:nvSpPr>
          <p:cNvPr id="5" name="Footer Placeholder 4">
            <a:extLst>
              <a:ext uri="{FF2B5EF4-FFF2-40B4-BE49-F238E27FC236}">
                <a16:creationId xmlns:a16="http://schemas.microsoft.com/office/drawing/2014/main" id="{4B26F0CE-88E9-1CE5-DD74-6280B7E066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0AC92BDB-1B63-71E3-ED62-DB1AB68659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954F6B-A3D8-4AC5-A97F-933B68F285DB}" type="slidenum">
              <a:rPr lang="en-AU" smtClean="0"/>
              <a:t>‹#›</a:t>
            </a:fld>
            <a:endParaRPr lang="en-AU"/>
          </a:p>
        </p:txBody>
      </p:sp>
    </p:spTree>
    <p:extLst>
      <p:ext uri="{BB962C8B-B14F-4D97-AF65-F5344CB8AC3E}">
        <p14:creationId xmlns:p14="http://schemas.microsoft.com/office/powerpoint/2010/main" val="9282914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jp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8.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jpe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8.jpeg"/><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397F5AC-C276-9A1F-C1F2-A9FF3E98509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97639" y="4913196"/>
            <a:ext cx="11929854" cy="1705969"/>
          </a:xfrm>
          <a:prstGeom prst="rect">
            <a:avLst/>
          </a:prstGeom>
        </p:spPr>
      </p:pic>
      <p:sp>
        <p:nvSpPr>
          <p:cNvPr id="2" name="Title 1">
            <a:extLst>
              <a:ext uri="{FF2B5EF4-FFF2-40B4-BE49-F238E27FC236}">
                <a16:creationId xmlns:a16="http://schemas.microsoft.com/office/drawing/2014/main" id="{51044CE4-48BF-2D03-D0FF-586619DED841}"/>
              </a:ext>
            </a:extLst>
          </p:cNvPr>
          <p:cNvSpPr txBox="1">
            <a:spLocks/>
          </p:cNvSpPr>
          <p:nvPr/>
        </p:nvSpPr>
        <p:spPr>
          <a:xfrm>
            <a:off x="1524000" y="2668896"/>
            <a:ext cx="9144000" cy="15341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AU" dirty="0">
                <a:solidFill>
                  <a:srgbClr val="1A1A1A"/>
                </a:solidFill>
                <a:latin typeface="Proxima Nova Lt" panose="02000506030000020004" pitchFamily="2" charset="0"/>
              </a:rPr>
              <a:t>AAGI Logo Guidelines</a:t>
            </a:r>
          </a:p>
        </p:txBody>
      </p:sp>
      <p:pic>
        <p:nvPicPr>
          <p:cNvPr id="3" name="Picture 2">
            <a:extLst>
              <a:ext uri="{FF2B5EF4-FFF2-40B4-BE49-F238E27FC236}">
                <a16:creationId xmlns:a16="http://schemas.microsoft.com/office/drawing/2014/main" id="{83445E59-EF1B-7F40-3B1C-2AD94FDD0C53}"/>
              </a:ext>
            </a:extLst>
          </p:cNvPr>
          <p:cNvPicPr>
            <a:picLocks noChangeAspect="1"/>
          </p:cNvPicPr>
          <p:nvPr/>
        </p:nvPicPr>
        <p:blipFill>
          <a:blip r:embed="rId3"/>
          <a:stretch>
            <a:fillRect/>
          </a:stretch>
        </p:blipFill>
        <p:spPr>
          <a:xfrm>
            <a:off x="4171555" y="486053"/>
            <a:ext cx="3848890" cy="1963720"/>
          </a:xfrm>
          <a:prstGeom prst="rect">
            <a:avLst/>
          </a:prstGeom>
        </p:spPr>
      </p:pic>
      <p:sp>
        <p:nvSpPr>
          <p:cNvPr id="5" name="TextBox 4">
            <a:extLst>
              <a:ext uri="{FF2B5EF4-FFF2-40B4-BE49-F238E27FC236}">
                <a16:creationId xmlns:a16="http://schemas.microsoft.com/office/drawing/2014/main" id="{83AFE54B-D6DA-534B-2A73-6CAD8E073E30}"/>
              </a:ext>
            </a:extLst>
          </p:cNvPr>
          <p:cNvSpPr txBox="1"/>
          <p:nvPr/>
        </p:nvSpPr>
        <p:spPr>
          <a:xfrm>
            <a:off x="3336663" y="3749424"/>
            <a:ext cx="5518673" cy="350224"/>
          </a:xfrm>
          <a:prstGeom prst="rect">
            <a:avLst/>
          </a:prstGeom>
          <a:noFill/>
        </p:spPr>
        <p:txBody>
          <a:bodyPr wrap="square">
            <a:spAutoFit/>
          </a:bodyPr>
          <a:lstStyle/>
          <a:p>
            <a:pPr algn="ctr">
              <a:lnSpc>
                <a:spcPct val="107000"/>
              </a:lnSpc>
            </a:pPr>
            <a:r>
              <a:rPr lang="en-AU" sz="1600" kern="100" dirty="0">
                <a:solidFill>
                  <a:schemeClr val="bg2">
                    <a:lumMod val="50000"/>
                  </a:schemeClr>
                </a:solidFill>
                <a:effectLst/>
                <a:latin typeface="Proxima Nova Rg" panose="02000506030000020004" pitchFamily="50" charset="0"/>
                <a:ea typeface="Calibri" panose="020F0502020204030204" pitchFamily="34" charset="0"/>
                <a:cs typeface="Times New Roman" panose="02020603050405020304" pitchFamily="18" charset="0"/>
              </a:rPr>
              <a:t>(U</a:t>
            </a:r>
            <a:r>
              <a:rPr lang="en-AU" sz="1600" kern="100" dirty="0">
                <a:solidFill>
                  <a:schemeClr val="bg2">
                    <a:lumMod val="50000"/>
                  </a:schemeClr>
                </a:solidFill>
                <a:latin typeface="Proxima Nova Rg" panose="02000506030000020004" pitchFamily="50" charset="0"/>
                <a:ea typeface="Calibri" panose="020F0502020204030204" pitchFamily="34" charset="0"/>
                <a:cs typeface="Times New Roman" panose="02020603050405020304" pitchFamily="18" charset="0"/>
              </a:rPr>
              <a:t>pdated April 2026 to contain the updated logo block)</a:t>
            </a:r>
            <a:endParaRPr lang="en-AU" sz="1600" kern="100" dirty="0">
              <a:solidFill>
                <a:schemeClr val="bg2">
                  <a:lumMod val="50000"/>
                </a:schemeClr>
              </a:solidFill>
              <a:effectLst/>
              <a:latin typeface="Proxima Nova Rg" panose="02000506030000020004" pitchFamily="50" charset="0"/>
              <a:ea typeface="Calibri" panose="020F0502020204030204" pitchFamily="34" charset="0"/>
              <a:cs typeface="Times New Roman" panose="02020603050405020304" pitchFamily="18" charset="0"/>
            </a:endParaRPr>
          </a:p>
        </p:txBody>
      </p:sp>
      <p:sp>
        <p:nvSpPr>
          <p:cNvPr id="8" name="Rectangle 7">
            <a:extLst>
              <a:ext uri="{FF2B5EF4-FFF2-40B4-BE49-F238E27FC236}">
                <a16:creationId xmlns:a16="http://schemas.microsoft.com/office/drawing/2014/main" id="{A34016FD-C810-8F7E-7D98-9AA6FA2B4C3F}"/>
              </a:ext>
            </a:extLst>
          </p:cNvPr>
          <p:cNvSpPr/>
          <p:nvPr/>
        </p:nvSpPr>
        <p:spPr>
          <a:xfrm>
            <a:off x="1" y="6644641"/>
            <a:ext cx="12191999" cy="213360"/>
          </a:xfrm>
          <a:prstGeom prst="rect">
            <a:avLst/>
          </a:prstGeom>
          <a:solidFill>
            <a:srgbClr val="008F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1870646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B149F09-FA19-3D9E-38B3-389A3047BC40}"/>
              </a:ext>
            </a:extLst>
          </p:cNvPr>
          <p:cNvSpPr txBox="1"/>
          <p:nvPr/>
        </p:nvSpPr>
        <p:spPr>
          <a:xfrm>
            <a:off x="4539727" y="622270"/>
            <a:ext cx="7262674" cy="5613460"/>
          </a:xfrm>
          <a:prstGeom prst="rect">
            <a:avLst/>
          </a:prstGeom>
          <a:noFill/>
        </p:spPr>
        <p:txBody>
          <a:bodyPr wrap="square">
            <a:spAutoFit/>
          </a:bodyPr>
          <a:lstStyle/>
          <a:p>
            <a:pPr>
              <a:lnSpc>
                <a:spcPct val="107000"/>
              </a:lnSpc>
            </a:pPr>
            <a:r>
              <a:rPr lang="en-AU" sz="1600" dirty="0">
                <a:solidFill>
                  <a:srgbClr val="1A1A1A"/>
                </a:solidFill>
                <a:latin typeface="Proxima Nova Rg" panose="02000506030000020004" pitchFamily="50" charset="0"/>
              </a:rPr>
              <a:t>The Analytics for the Australian Grains Industry (AAGI) gives Australian growers an opportunity to be world leaders in analytics-driven decision making to drive efficiency and precision and support farm enterprise risk management.</a:t>
            </a:r>
          </a:p>
          <a:p>
            <a:pPr>
              <a:lnSpc>
                <a:spcPct val="107000"/>
              </a:lnSpc>
            </a:pPr>
            <a:endParaRPr lang="en-AU" sz="1600" dirty="0">
              <a:solidFill>
                <a:srgbClr val="1A1A1A"/>
              </a:solidFill>
              <a:latin typeface="Proxima Nova Rg" panose="02000506030000020004" pitchFamily="50" charset="0"/>
            </a:endParaRPr>
          </a:p>
          <a:p>
            <a:pPr>
              <a:lnSpc>
                <a:spcPct val="107000"/>
              </a:lnSpc>
            </a:pPr>
            <a:r>
              <a:rPr lang="en-AU" sz="1600" dirty="0">
                <a:solidFill>
                  <a:srgbClr val="1A1A1A"/>
                </a:solidFill>
                <a:latin typeface="Proxima Nova Rg" panose="02000506030000020004" pitchFamily="50" charset="0"/>
              </a:rPr>
              <a:t>AAGI is an investment of the Grains Research and Development Corporation (GRDC) and is led by three strategic partners Curtin University, the University of Adelaide and the University of Queensland. The strategic partners work with several project and associate partner organisations including leading Australian and international universities, federal and state government research agencies, and commercial technology and analytics providers, to expand the sector’s analytics capability and tackle the grains industry’s biggest challenges.</a:t>
            </a:r>
          </a:p>
          <a:p>
            <a:pPr>
              <a:lnSpc>
                <a:spcPct val="107000"/>
              </a:lnSpc>
            </a:pPr>
            <a:endParaRPr lang="en-AU" sz="1600" dirty="0">
              <a:solidFill>
                <a:srgbClr val="1A1A1A"/>
              </a:solidFill>
              <a:latin typeface="Proxima Nova Rg" panose="02000506030000020004" pitchFamily="50" charset="0"/>
            </a:endParaRPr>
          </a:p>
          <a:p>
            <a:pPr>
              <a:lnSpc>
                <a:spcPct val="107000"/>
              </a:lnSpc>
            </a:pPr>
            <a:r>
              <a:rPr lang="en-AU" sz="1600" dirty="0">
                <a:solidFill>
                  <a:srgbClr val="1A1A1A"/>
                </a:solidFill>
                <a:latin typeface="Proxima Nova Rg" panose="02000506030000020004" pitchFamily="50" charset="0"/>
              </a:rPr>
              <a:t>The new AAGI logo will be used in conjunction with the three strategic partners and GRDC. The wheat sheaf represents the Australian Grains Industry, while t</a:t>
            </a:r>
            <a:r>
              <a:rPr lang="en-AU" sz="1600" kern="100" dirty="0">
                <a:solidFill>
                  <a:srgbClr val="1A1A1A"/>
                </a:solidFill>
                <a:effectLst/>
                <a:latin typeface="Proxima Nova Rg" panose="02000506030000020004" pitchFamily="50" charset="0"/>
                <a:ea typeface="Times New Roman" panose="02020603050405020304" pitchFamily="18" charset="0"/>
              </a:rPr>
              <a:t>he two connector points represent data loading or data sensing points, often used when representing techy, data analytical organisations. </a:t>
            </a:r>
            <a:r>
              <a:rPr lang="en-AU" sz="1600" kern="100" dirty="0">
                <a:solidFill>
                  <a:srgbClr val="1A1A1A"/>
                </a:solidFill>
                <a:latin typeface="Proxima Nova Rg" panose="02000506030000020004" pitchFamily="50" charset="0"/>
                <a:ea typeface="Times New Roman" panose="02020603050405020304" pitchFamily="18" charset="0"/>
              </a:rPr>
              <a:t>The colours were chosen to look modern and techy. </a:t>
            </a:r>
            <a:endParaRPr lang="en-AU" sz="1600" kern="100" dirty="0">
              <a:solidFill>
                <a:srgbClr val="1A1A1A"/>
              </a:solidFill>
              <a:latin typeface="Proxima Nova Rg" panose="02000506030000020004" pitchFamily="50" charset="0"/>
              <a:ea typeface="Times New Roman" panose="02020603050405020304" pitchFamily="18" charset="0"/>
              <a:cs typeface="Calibri" panose="020F0502020204030204" pitchFamily="34" charset="0"/>
            </a:endParaRPr>
          </a:p>
          <a:p>
            <a:pPr>
              <a:lnSpc>
                <a:spcPct val="107000"/>
              </a:lnSpc>
            </a:pPr>
            <a:endParaRPr lang="en-AU" sz="1600" kern="100" dirty="0">
              <a:solidFill>
                <a:srgbClr val="1A1A1A"/>
              </a:solidFill>
              <a:effectLst/>
              <a:latin typeface="Proxima Nova Rg" panose="02000506030000020004" pitchFamily="50" charset="0"/>
              <a:ea typeface="Calibri" panose="020F0502020204030204" pitchFamily="34" charset="0"/>
              <a:cs typeface="Calibri" panose="020F0502020204030204" pitchFamily="34" charset="0"/>
            </a:endParaRPr>
          </a:p>
          <a:p>
            <a:pPr>
              <a:lnSpc>
                <a:spcPct val="107000"/>
              </a:lnSpc>
            </a:pPr>
            <a:r>
              <a:rPr lang="en-AU" sz="1600" kern="100" dirty="0">
                <a:solidFill>
                  <a:srgbClr val="1A1A1A"/>
                </a:solidFill>
                <a:effectLst/>
                <a:latin typeface="Proxima Nova Rg" panose="02000506030000020004" pitchFamily="50" charset="0"/>
                <a:ea typeface="Calibri" panose="020F0502020204030204" pitchFamily="34" charset="0"/>
                <a:cs typeface="Calibri" panose="020F0502020204030204" pitchFamily="34" charset="0"/>
              </a:rPr>
              <a:t>The future is data driven. AAGI is a big investment that addresses the challenges and opportunities to bring Australian agriculture to the future, where it belongs with the rest of the world. </a:t>
            </a:r>
            <a:endParaRPr lang="en-AU" sz="1600" kern="100" dirty="0">
              <a:solidFill>
                <a:srgbClr val="1A1A1A"/>
              </a:solidFill>
              <a:effectLst/>
              <a:latin typeface="Proxima Nova Rg" panose="02000506030000020004" pitchFamily="50" charset="0"/>
              <a:ea typeface="Calibri" panose="020F0502020204030204" pitchFamily="34" charset="0"/>
              <a:cs typeface="Times New Roman" panose="02020603050405020304" pitchFamily="18" charset="0"/>
            </a:endParaRPr>
          </a:p>
        </p:txBody>
      </p:sp>
      <p:sp>
        <p:nvSpPr>
          <p:cNvPr id="6" name="Title 1">
            <a:extLst>
              <a:ext uri="{FF2B5EF4-FFF2-40B4-BE49-F238E27FC236}">
                <a16:creationId xmlns:a16="http://schemas.microsoft.com/office/drawing/2014/main" id="{3F508F65-8D02-7235-038D-A90636C57B28}"/>
              </a:ext>
            </a:extLst>
          </p:cNvPr>
          <p:cNvSpPr txBox="1">
            <a:spLocks/>
          </p:cNvSpPr>
          <p:nvPr/>
        </p:nvSpPr>
        <p:spPr>
          <a:xfrm>
            <a:off x="712687" y="622271"/>
            <a:ext cx="10515600" cy="66864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AU" sz="4000" dirty="0">
                <a:solidFill>
                  <a:srgbClr val="1A1A1A"/>
                </a:solidFill>
                <a:latin typeface="Proxima Nova Lt" panose="02000506030000020004" pitchFamily="2" charset="0"/>
              </a:rPr>
              <a:t>The Logo</a:t>
            </a:r>
          </a:p>
        </p:txBody>
      </p:sp>
      <p:pic>
        <p:nvPicPr>
          <p:cNvPr id="5" name="Picture 4">
            <a:extLst>
              <a:ext uri="{FF2B5EF4-FFF2-40B4-BE49-F238E27FC236}">
                <a16:creationId xmlns:a16="http://schemas.microsoft.com/office/drawing/2014/main" id="{0DB3D3E2-A7E3-7C8F-5EC2-7BD295ECEE08}"/>
              </a:ext>
            </a:extLst>
          </p:cNvPr>
          <p:cNvPicPr>
            <a:picLocks noChangeAspect="1"/>
          </p:cNvPicPr>
          <p:nvPr/>
        </p:nvPicPr>
        <p:blipFill>
          <a:blip r:embed="rId2"/>
          <a:stretch>
            <a:fillRect/>
          </a:stretch>
        </p:blipFill>
        <p:spPr>
          <a:xfrm>
            <a:off x="389599" y="2280882"/>
            <a:ext cx="3518137" cy="1679747"/>
          </a:xfrm>
          <a:prstGeom prst="rect">
            <a:avLst/>
          </a:prstGeom>
        </p:spPr>
      </p:pic>
      <p:sp>
        <p:nvSpPr>
          <p:cNvPr id="2" name="Rectangle 1">
            <a:extLst>
              <a:ext uri="{FF2B5EF4-FFF2-40B4-BE49-F238E27FC236}">
                <a16:creationId xmlns:a16="http://schemas.microsoft.com/office/drawing/2014/main" id="{A2C859AA-F4A0-E862-3253-09952C828766}"/>
              </a:ext>
            </a:extLst>
          </p:cNvPr>
          <p:cNvSpPr/>
          <p:nvPr/>
        </p:nvSpPr>
        <p:spPr>
          <a:xfrm>
            <a:off x="1" y="6644641"/>
            <a:ext cx="12191999" cy="213360"/>
          </a:xfrm>
          <a:prstGeom prst="rect">
            <a:avLst/>
          </a:prstGeom>
          <a:solidFill>
            <a:srgbClr val="008F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41989784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FC5CF8AF-8E8C-45E7-84F5-0E59BF4CD885}"/>
              </a:ext>
            </a:extLst>
          </p:cNvPr>
          <p:cNvSpPr>
            <a:spLocks noGrp="1"/>
          </p:cNvSpPr>
          <p:nvPr>
            <p:ph idx="1"/>
          </p:nvPr>
        </p:nvSpPr>
        <p:spPr>
          <a:xfrm>
            <a:off x="1581708" y="3250214"/>
            <a:ext cx="9555683" cy="1967748"/>
          </a:xfrm>
        </p:spPr>
        <p:txBody>
          <a:bodyPr>
            <a:normAutofit/>
          </a:bodyPr>
          <a:lstStyle/>
          <a:p>
            <a:pPr>
              <a:lnSpc>
                <a:spcPct val="120000"/>
              </a:lnSpc>
            </a:pPr>
            <a:r>
              <a:rPr lang="en-AU" sz="2400" dirty="0">
                <a:solidFill>
                  <a:srgbClr val="1A1A1A"/>
                </a:solidFill>
                <a:latin typeface="Proxima Nova Rg" panose="02000506030000020004" pitchFamily="50" charset="0"/>
              </a:rPr>
              <a:t>GRDC upfront as the major investment partner, separated with line</a:t>
            </a:r>
          </a:p>
          <a:p>
            <a:r>
              <a:rPr lang="en-AU" sz="2400" dirty="0">
                <a:solidFill>
                  <a:srgbClr val="1A1A1A"/>
                </a:solidFill>
                <a:latin typeface="Proxima Nova Rg" panose="02000506030000020004" pitchFamily="50" charset="0"/>
              </a:rPr>
              <a:t>Strategic partners in alphabetical order</a:t>
            </a:r>
          </a:p>
          <a:p>
            <a:r>
              <a:rPr lang="en-AU" sz="2400" dirty="0">
                <a:solidFill>
                  <a:srgbClr val="1A1A1A"/>
                </a:solidFill>
                <a:latin typeface="Proxima Nova Rg" panose="02000506030000020004" pitchFamily="50" charset="0"/>
              </a:rPr>
              <a:t>Comes in two lengths – portrait (above) and landscape (below)</a:t>
            </a:r>
          </a:p>
        </p:txBody>
      </p:sp>
      <p:sp>
        <p:nvSpPr>
          <p:cNvPr id="5" name="Rectangle 4">
            <a:extLst>
              <a:ext uri="{FF2B5EF4-FFF2-40B4-BE49-F238E27FC236}">
                <a16:creationId xmlns:a16="http://schemas.microsoft.com/office/drawing/2014/main" id="{4CC821A6-C2DD-578D-EB5E-14C63860A83D}"/>
              </a:ext>
            </a:extLst>
          </p:cNvPr>
          <p:cNvSpPr/>
          <p:nvPr/>
        </p:nvSpPr>
        <p:spPr>
          <a:xfrm>
            <a:off x="1" y="6644641"/>
            <a:ext cx="12191999" cy="213360"/>
          </a:xfrm>
          <a:prstGeom prst="rect">
            <a:avLst/>
          </a:prstGeom>
          <a:solidFill>
            <a:srgbClr val="008F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a:extLst>
              <a:ext uri="{FF2B5EF4-FFF2-40B4-BE49-F238E27FC236}">
                <a16:creationId xmlns:a16="http://schemas.microsoft.com/office/drawing/2014/main" id="{0D82676F-4DAD-0E19-3E6B-AD94F67EAD8F}"/>
              </a:ext>
            </a:extLst>
          </p:cNvPr>
          <p:cNvSpPr txBox="1">
            <a:spLocks/>
          </p:cNvSpPr>
          <p:nvPr/>
        </p:nvSpPr>
        <p:spPr>
          <a:xfrm>
            <a:off x="712687" y="622271"/>
            <a:ext cx="10515600" cy="66864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AU" sz="4000" dirty="0">
                <a:solidFill>
                  <a:srgbClr val="1A1A1A"/>
                </a:solidFill>
                <a:latin typeface="Proxima Nova Lt" panose="02000506030000020004" pitchFamily="2" charset="0"/>
              </a:rPr>
              <a:t>The Logo Block</a:t>
            </a:r>
          </a:p>
        </p:txBody>
      </p:sp>
      <p:pic>
        <p:nvPicPr>
          <p:cNvPr id="4" name="Picture 3">
            <a:extLst>
              <a:ext uri="{FF2B5EF4-FFF2-40B4-BE49-F238E27FC236}">
                <a16:creationId xmlns:a16="http://schemas.microsoft.com/office/drawing/2014/main" id="{949A1728-115E-1065-3694-BFFE5174488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97365" y="1488648"/>
            <a:ext cx="10997270" cy="1640554"/>
          </a:xfrm>
          <a:prstGeom prst="rect">
            <a:avLst/>
          </a:prstGeom>
        </p:spPr>
      </p:pic>
      <p:pic>
        <p:nvPicPr>
          <p:cNvPr id="10" name="Picture 9">
            <a:extLst>
              <a:ext uri="{FF2B5EF4-FFF2-40B4-BE49-F238E27FC236}">
                <a16:creationId xmlns:a16="http://schemas.microsoft.com/office/drawing/2014/main" id="{3BD88DBE-B001-B19D-944B-EF0E9FE2FCB5}"/>
              </a:ext>
            </a:extLst>
          </p:cNvPr>
          <p:cNvPicPr>
            <a:picLocks noChangeAspect="1"/>
          </p:cNvPicPr>
          <p:nvPr/>
        </p:nvPicPr>
        <p:blipFill>
          <a:blip r:embed="rId3">
            <a:extLst>
              <a:ext uri="{28A0092B-C50C-407E-A947-70E740481C1C}">
                <a14:useLocalDpi xmlns:a14="http://schemas.microsoft.com/office/drawing/2010/main" val="0"/>
              </a:ext>
            </a:extLst>
          </a:blip>
          <a:srcRect t="18905" b="18905"/>
          <a:stretch/>
        </p:blipFill>
        <p:spPr>
          <a:xfrm>
            <a:off x="0" y="5113456"/>
            <a:ext cx="12192001" cy="511791"/>
          </a:xfrm>
          <a:prstGeom prst="rect">
            <a:avLst/>
          </a:prstGeom>
        </p:spPr>
      </p:pic>
    </p:spTree>
    <p:extLst>
      <p:ext uri="{BB962C8B-B14F-4D97-AF65-F5344CB8AC3E}">
        <p14:creationId xmlns:p14="http://schemas.microsoft.com/office/powerpoint/2010/main" val="2300896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E37D839-F9E6-8FBE-26A5-8D2B07A9AB2E}"/>
              </a:ext>
            </a:extLst>
          </p:cNvPr>
          <p:cNvPicPr>
            <a:picLocks noChangeAspect="1"/>
          </p:cNvPicPr>
          <p:nvPr/>
        </p:nvPicPr>
        <p:blipFill rotWithShape="1">
          <a:blip r:embed="rId2"/>
          <a:srcRect l="50000" t="9996" r="24257" b="6647"/>
          <a:stretch/>
        </p:blipFill>
        <p:spPr>
          <a:xfrm>
            <a:off x="7734882" y="622271"/>
            <a:ext cx="3493405" cy="6006836"/>
          </a:xfrm>
          <a:prstGeom prst="rect">
            <a:avLst/>
          </a:prstGeom>
        </p:spPr>
      </p:pic>
      <p:sp>
        <p:nvSpPr>
          <p:cNvPr id="6" name="Title 1">
            <a:extLst>
              <a:ext uri="{FF2B5EF4-FFF2-40B4-BE49-F238E27FC236}">
                <a16:creationId xmlns:a16="http://schemas.microsoft.com/office/drawing/2014/main" id="{2AC9B8CB-873E-A4AC-4C7F-410DBDC86033}"/>
              </a:ext>
            </a:extLst>
          </p:cNvPr>
          <p:cNvSpPr txBox="1">
            <a:spLocks/>
          </p:cNvSpPr>
          <p:nvPr/>
        </p:nvSpPr>
        <p:spPr>
          <a:xfrm>
            <a:off x="712687" y="622271"/>
            <a:ext cx="10515600" cy="66864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AU" sz="4000" dirty="0">
                <a:solidFill>
                  <a:srgbClr val="1A1A1A"/>
                </a:solidFill>
                <a:latin typeface="Proxima Nova Lt" panose="02000506030000020004" pitchFamily="2" charset="0"/>
              </a:rPr>
              <a:t>Logo Variations</a:t>
            </a:r>
          </a:p>
        </p:txBody>
      </p:sp>
      <p:sp>
        <p:nvSpPr>
          <p:cNvPr id="7" name="Rectangle 6">
            <a:extLst>
              <a:ext uri="{FF2B5EF4-FFF2-40B4-BE49-F238E27FC236}">
                <a16:creationId xmlns:a16="http://schemas.microsoft.com/office/drawing/2014/main" id="{1A2331A7-5C9A-2130-2E93-FE0AE6F6F5F8}"/>
              </a:ext>
            </a:extLst>
          </p:cNvPr>
          <p:cNvSpPr/>
          <p:nvPr/>
        </p:nvSpPr>
        <p:spPr>
          <a:xfrm>
            <a:off x="1" y="6644641"/>
            <a:ext cx="12191999" cy="213360"/>
          </a:xfrm>
          <a:prstGeom prst="rect">
            <a:avLst/>
          </a:prstGeom>
          <a:solidFill>
            <a:srgbClr val="008F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TextBox 7">
            <a:extLst>
              <a:ext uri="{FF2B5EF4-FFF2-40B4-BE49-F238E27FC236}">
                <a16:creationId xmlns:a16="http://schemas.microsoft.com/office/drawing/2014/main" id="{0AD95D91-E9BB-3F64-29D8-A2BE17AAFAEB}"/>
              </a:ext>
            </a:extLst>
          </p:cNvPr>
          <p:cNvSpPr txBox="1"/>
          <p:nvPr/>
        </p:nvSpPr>
        <p:spPr>
          <a:xfrm>
            <a:off x="712686" y="1481613"/>
            <a:ext cx="6008955" cy="3245312"/>
          </a:xfrm>
          <a:prstGeom prst="rect">
            <a:avLst/>
          </a:prstGeom>
          <a:noFill/>
        </p:spPr>
        <p:txBody>
          <a:bodyPr wrap="square">
            <a:spAutoFit/>
          </a:bodyPr>
          <a:lstStyle/>
          <a:p>
            <a:pPr>
              <a:lnSpc>
                <a:spcPct val="107000"/>
              </a:lnSpc>
            </a:pPr>
            <a:r>
              <a:rPr lang="en-US" sz="2400" dirty="0">
                <a:solidFill>
                  <a:srgbClr val="1A1A1A"/>
                </a:solidFill>
                <a:latin typeface="Proxima Nova Rg" panose="02000506030000020004" pitchFamily="50" charset="0"/>
              </a:rPr>
              <a:t>The Analytics for the Australian Grains Industry logo is available in the following </a:t>
            </a:r>
            <a:r>
              <a:rPr lang="en-US" sz="2400" dirty="0" err="1">
                <a:solidFill>
                  <a:srgbClr val="1A1A1A"/>
                </a:solidFill>
                <a:latin typeface="Proxima Nova Rg" panose="02000506030000020004" pitchFamily="50" charset="0"/>
              </a:rPr>
              <a:t>colour</a:t>
            </a:r>
            <a:r>
              <a:rPr lang="en-US" sz="2400" dirty="0">
                <a:solidFill>
                  <a:srgbClr val="1A1A1A"/>
                </a:solidFill>
                <a:latin typeface="Proxima Nova Rg" panose="02000506030000020004" pitchFamily="50" charset="0"/>
              </a:rPr>
              <a:t> variations:</a:t>
            </a:r>
          </a:p>
          <a:p>
            <a:pPr>
              <a:lnSpc>
                <a:spcPct val="107000"/>
              </a:lnSpc>
            </a:pPr>
            <a:endParaRPr lang="en-US" sz="2400" dirty="0">
              <a:solidFill>
                <a:srgbClr val="1A1A1A"/>
              </a:solidFill>
              <a:latin typeface="Proxima Nova Rg" panose="02000506030000020004" pitchFamily="50" charset="0"/>
            </a:endParaRPr>
          </a:p>
          <a:p>
            <a:pPr marL="342900" indent="-342900">
              <a:lnSpc>
                <a:spcPct val="107000"/>
              </a:lnSpc>
              <a:buFont typeface="+mj-lt"/>
              <a:buAutoNum type="arabicPeriod"/>
            </a:pPr>
            <a:r>
              <a:rPr lang="en-AU" sz="2400" kern="100" dirty="0">
                <a:solidFill>
                  <a:srgbClr val="1A1A1A"/>
                </a:solidFill>
                <a:effectLst/>
                <a:latin typeface="Proxima Nova Rg" panose="02000506030000020004" pitchFamily="50" charset="0"/>
                <a:ea typeface="Calibri" panose="020F0502020204030204" pitchFamily="34" charset="0"/>
                <a:cs typeface="Times New Roman" panose="02020603050405020304" pitchFamily="18" charset="0"/>
              </a:rPr>
              <a:t>Full colour (AI, EPS, SVG, JPEG, PNG)</a:t>
            </a:r>
          </a:p>
          <a:p>
            <a:pPr marL="342900" indent="-342900">
              <a:lnSpc>
                <a:spcPct val="107000"/>
              </a:lnSpc>
              <a:buFont typeface="+mj-lt"/>
              <a:buAutoNum type="arabicPeriod"/>
            </a:pPr>
            <a:r>
              <a:rPr lang="it-IT" sz="2400" kern="100" dirty="0">
                <a:solidFill>
                  <a:srgbClr val="1A1A1A"/>
                </a:solidFill>
                <a:effectLst/>
                <a:latin typeface="Proxima Nova Rg" panose="02000506030000020004" pitchFamily="50" charset="0"/>
                <a:ea typeface="Calibri" panose="020F0502020204030204" pitchFamily="34" charset="0"/>
                <a:cs typeface="Times New Roman" panose="02020603050405020304" pitchFamily="18" charset="0"/>
              </a:rPr>
              <a:t>Mono (AI, EPS, SVG, JPEG, PNG)</a:t>
            </a:r>
          </a:p>
          <a:p>
            <a:pPr marL="342900" indent="-342900">
              <a:lnSpc>
                <a:spcPct val="107000"/>
              </a:lnSpc>
              <a:buFont typeface="+mj-lt"/>
              <a:buAutoNum type="arabicPeriod"/>
            </a:pPr>
            <a:r>
              <a:rPr lang="it-IT" sz="2400" kern="100" dirty="0">
                <a:solidFill>
                  <a:srgbClr val="1A1A1A"/>
                </a:solidFill>
                <a:effectLst/>
                <a:latin typeface="Proxima Nova Rg" panose="02000506030000020004" pitchFamily="50" charset="0"/>
                <a:ea typeface="Calibri" panose="020F0502020204030204" pitchFamily="34" charset="0"/>
                <a:cs typeface="Times New Roman" panose="02020603050405020304" pitchFamily="18" charset="0"/>
              </a:rPr>
              <a:t>Reversed (AI, EPS, SVG, PNG)</a:t>
            </a:r>
          </a:p>
          <a:p>
            <a:pPr marL="342900" indent="-342900">
              <a:lnSpc>
                <a:spcPct val="107000"/>
              </a:lnSpc>
              <a:buFont typeface="+mj-lt"/>
              <a:buAutoNum type="arabicPeriod"/>
            </a:pPr>
            <a:r>
              <a:rPr lang="en-US" sz="2400" kern="100" dirty="0">
                <a:solidFill>
                  <a:srgbClr val="1A1A1A"/>
                </a:solidFill>
                <a:effectLst/>
                <a:latin typeface="Proxima Nova Rg" panose="02000506030000020004" pitchFamily="50" charset="0"/>
                <a:ea typeface="Calibri" panose="020F0502020204030204" pitchFamily="34" charset="0"/>
                <a:cs typeface="Times New Roman" panose="02020603050405020304" pitchFamily="18" charset="0"/>
              </a:rPr>
              <a:t>Full </a:t>
            </a:r>
            <a:r>
              <a:rPr lang="en-US" sz="2400" kern="100" dirty="0" err="1">
                <a:solidFill>
                  <a:srgbClr val="1A1A1A"/>
                </a:solidFill>
                <a:effectLst/>
                <a:latin typeface="Proxima Nova Rg" panose="02000506030000020004" pitchFamily="50" charset="0"/>
                <a:ea typeface="Calibri" panose="020F0502020204030204" pitchFamily="34" charset="0"/>
                <a:cs typeface="Times New Roman" panose="02020603050405020304" pitchFamily="18" charset="0"/>
              </a:rPr>
              <a:t>colour</a:t>
            </a:r>
            <a:r>
              <a:rPr lang="en-US" sz="2400" kern="100" dirty="0">
                <a:solidFill>
                  <a:srgbClr val="1A1A1A"/>
                </a:solidFill>
                <a:effectLst/>
                <a:latin typeface="Proxima Nova Rg" panose="02000506030000020004" pitchFamily="50" charset="0"/>
                <a:ea typeface="Calibri" panose="020F0502020204030204" pitchFamily="34" charset="0"/>
                <a:cs typeface="Times New Roman" panose="02020603050405020304" pitchFamily="18" charset="0"/>
              </a:rPr>
              <a:t> reversed (AI, EPS, SVG, PNG)</a:t>
            </a:r>
            <a:endParaRPr lang="en-AU" sz="2400" kern="100" dirty="0">
              <a:solidFill>
                <a:srgbClr val="1A1A1A"/>
              </a:solidFill>
              <a:effectLst/>
              <a:latin typeface="Proxima Nova Rg" panose="02000506030000020004" pitchFamily="50"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874027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C7DDE-47DE-D397-4E82-F1899BBCB2BA}"/>
              </a:ext>
            </a:extLst>
          </p:cNvPr>
          <p:cNvSpPr txBox="1">
            <a:spLocks/>
          </p:cNvSpPr>
          <p:nvPr/>
        </p:nvSpPr>
        <p:spPr>
          <a:xfrm>
            <a:off x="712687" y="622271"/>
            <a:ext cx="10515600" cy="66864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AU" sz="4000" dirty="0">
                <a:solidFill>
                  <a:srgbClr val="1A1A1A"/>
                </a:solidFill>
                <a:latin typeface="Proxima Nova Lt" panose="02000506030000020004" pitchFamily="2" charset="0"/>
              </a:rPr>
              <a:t>Colour Palette</a:t>
            </a:r>
          </a:p>
        </p:txBody>
      </p:sp>
      <p:pic>
        <p:nvPicPr>
          <p:cNvPr id="5" name="Picture 4">
            <a:extLst>
              <a:ext uri="{FF2B5EF4-FFF2-40B4-BE49-F238E27FC236}">
                <a16:creationId xmlns:a16="http://schemas.microsoft.com/office/drawing/2014/main" id="{4666D855-C8C5-0A2E-7222-E542DB13713A}"/>
              </a:ext>
            </a:extLst>
          </p:cNvPr>
          <p:cNvPicPr>
            <a:picLocks noChangeAspect="1"/>
          </p:cNvPicPr>
          <p:nvPr/>
        </p:nvPicPr>
        <p:blipFill rotWithShape="1">
          <a:blip r:embed="rId2">
            <a:clrChange>
              <a:clrFrom>
                <a:srgbClr val="FFFFFF"/>
              </a:clrFrom>
              <a:clrTo>
                <a:srgbClr val="FFFFFF">
                  <a:alpha val="0"/>
                </a:srgbClr>
              </a:clrTo>
            </a:clrChange>
          </a:blip>
          <a:srcRect t="18823"/>
          <a:stretch/>
        </p:blipFill>
        <p:spPr>
          <a:xfrm>
            <a:off x="413922" y="1077560"/>
            <a:ext cx="11364156" cy="5567081"/>
          </a:xfrm>
          <a:prstGeom prst="rect">
            <a:avLst/>
          </a:prstGeom>
        </p:spPr>
      </p:pic>
      <p:sp>
        <p:nvSpPr>
          <p:cNvPr id="4" name="TextBox 3">
            <a:extLst>
              <a:ext uri="{FF2B5EF4-FFF2-40B4-BE49-F238E27FC236}">
                <a16:creationId xmlns:a16="http://schemas.microsoft.com/office/drawing/2014/main" id="{4F62DEA0-AC30-2BBA-50FA-D8E2C1E47543}"/>
              </a:ext>
            </a:extLst>
          </p:cNvPr>
          <p:cNvSpPr txBox="1"/>
          <p:nvPr/>
        </p:nvSpPr>
        <p:spPr>
          <a:xfrm>
            <a:off x="8256486" y="3445602"/>
            <a:ext cx="3224313" cy="830997"/>
          </a:xfrm>
          <a:prstGeom prst="rect">
            <a:avLst/>
          </a:prstGeom>
          <a:noFill/>
        </p:spPr>
        <p:txBody>
          <a:bodyPr wrap="square">
            <a:spAutoFit/>
          </a:bodyPr>
          <a:lstStyle/>
          <a:p>
            <a:pPr lvl="0"/>
            <a:r>
              <a:rPr lang="en-AU" sz="1600" dirty="0">
                <a:latin typeface="Calibri" panose="020F0502020204030204" pitchFamily="34" charset="0"/>
                <a:ea typeface="Times New Roman" panose="02020603050405020304" pitchFamily="18" charset="0"/>
              </a:rPr>
              <a:t>T</a:t>
            </a:r>
            <a:r>
              <a:rPr lang="en-AU" sz="1600" dirty="0">
                <a:effectLst/>
                <a:latin typeface="Calibri" panose="020F0502020204030204" pitchFamily="34" charset="0"/>
                <a:ea typeface="Times New Roman" panose="02020603050405020304" pitchFamily="18" charset="0"/>
              </a:rPr>
              <a:t>o be used as an accent colour and not recommended for use in large colour blocks.</a:t>
            </a:r>
            <a:endParaRPr lang="en-AU" sz="1600" dirty="0">
              <a:effectLst/>
              <a:latin typeface="Calibri" panose="020F0502020204030204" pitchFamily="34" charset="0"/>
              <a:ea typeface="Calibri" panose="020F0502020204030204" pitchFamily="34" charset="0"/>
            </a:endParaRPr>
          </a:p>
        </p:txBody>
      </p:sp>
      <p:sp>
        <p:nvSpPr>
          <p:cNvPr id="6" name="TextBox 5">
            <a:extLst>
              <a:ext uri="{FF2B5EF4-FFF2-40B4-BE49-F238E27FC236}">
                <a16:creationId xmlns:a16="http://schemas.microsoft.com/office/drawing/2014/main" id="{A80897B0-B80C-A166-81DC-0B37C4BC6A56}"/>
              </a:ext>
            </a:extLst>
          </p:cNvPr>
          <p:cNvSpPr txBox="1"/>
          <p:nvPr/>
        </p:nvSpPr>
        <p:spPr>
          <a:xfrm>
            <a:off x="8256486" y="5774064"/>
            <a:ext cx="3224313" cy="584775"/>
          </a:xfrm>
          <a:prstGeom prst="rect">
            <a:avLst/>
          </a:prstGeom>
          <a:noFill/>
        </p:spPr>
        <p:txBody>
          <a:bodyPr wrap="square">
            <a:spAutoFit/>
          </a:bodyPr>
          <a:lstStyle/>
          <a:p>
            <a:pPr lvl="0"/>
            <a:r>
              <a:rPr lang="en-AU" sz="1600" dirty="0">
                <a:latin typeface="Calibri" panose="020F0502020204030204" pitchFamily="34" charset="0"/>
                <a:ea typeface="Times New Roman" panose="02020603050405020304" pitchFamily="18" charset="0"/>
              </a:rPr>
              <a:t>T</a:t>
            </a:r>
            <a:r>
              <a:rPr lang="en-AU" sz="1600" dirty="0">
                <a:effectLst/>
                <a:latin typeface="Calibri" panose="020F0502020204030204" pitchFamily="34" charset="0"/>
                <a:ea typeface="Times New Roman" panose="02020603050405020304" pitchFamily="18" charset="0"/>
              </a:rPr>
              <a:t>o be used as the main colour for AAGI material.</a:t>
            </a:r>
            <a:endParaRPr lang="en-AU" sz="1600" dirty="0">
              <a:effectLst/>
              <a:latin typeface="Calibri" panose="020F0502020204030204" pitchFamily="34" charset="0"/>
              <a:ea typeface="Calibri" panose="020F0502020204030204" pitchFamily="34" charset="0"/>
            </a:endParaRPr>
          </a:p>
        </p:txBody>
      </p:sp>
      <p:sp>
        <p:nvSpPr>
          <p:cNvPr id="3" name="Rectangle 2">
            <a:extLst>
              <a:ext uri="{FF2B5EF4-FFF2-40B4-BE49-F238E27FC236}">
                <a16:creationId xmlns:a16="http://schemas.microsoft.com/office/drawing/2014/main" id="{FFBDAADA-76CE-7D12-3508-01421C2AAF47}"/>
              </a:ext>
            </a:extLst>
          </p:cNvPr>
          <p:cNvSpPr/>
          <p:nvPr/>
        </p:nvSpPr>
        <p:spPr>
          <a:xfrm>
            <a:off x="1" y="6644641"/>
            <a:ext cx="12191999" cy="213360"/>
          </a:xfrm>
          <a:prstGeom prst="rect">
            <a:avLst/>
          </a:prstGeom>
          <a:solidFill>
            <a:srgbClr val="008F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8796161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EF4B07-65B9-4C9E-07C9-699943089CD7}"/>
              </a:ext>
            </a:extLst>
          </p:cNvPr>
          <p:cNvPicPr>
            <a:picLocks noChangeAspect="1"/>
          </p:cNvPicPr>
          <p:nvPr/>
        </p:nvPicPr>
        <p:blipFill rotWithShape="1">
          <a:blip r:embed="rId2"/>
          <a:srcRect l="5812" t="18341" r="26500" b="36899"/>
          <a:stretch/>
        </p:blipFill>
        <p:spPr>
          <a:xfrm>
            <a:off x="712688" y="1207547"/>
            <a:ext cx="8700254" cy="3186914"/>
          </a:xfrm>
          <a:prstGeom prst="rect">
            <a:avLst/>
          </a:prstGeom>
        </p:spPr>
      </p:pic>
      <p:sp>
        <p:nvSpPr>
          <p:cNvPr id="2" name="Title 1">
            <a:extLst>
              <a:ext uri="{FF2B5EF4-FFF2-40B4-BE49-F238E27FC236}">
                <a16:creationId xmlns:a16="http://schemas.microsoft.com/office/drawing/2014/main" id="{F725A87C-1AC9-4625-13F8-758401E148AC}"/>
              </a:ext>
            </a:extLst>
          </p:cNvPr>
          <p:cNvSpPr txBox="1">
            <a:spLocks/>
          </p:cNvSpPr>
          <p:nvPr/>
        </p:nvSpPr>
        <p:spPr>
          <a:xfrm>
            <a:off x="712687" y="622271"/>
            <a:ext cx="10515600" cy="66864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AU" sz="4000" dirty="0">
                <a:solidFill>
                  <a:srgbClr val="1A1A1A"/>
                </a:solidFill>
                <a:latin typeface="Proxima Nova Lt" panose="02000506030000020004" pitchFamily="2" charset="0"/>
              </a:rPr>
              <a:t>Fonts</a:t>
            </a:r>
          </a:p>
        </p:txBody>
      </p:sp>
      <p:sp>
        <p:nvSpPr>
          <p:cNvPr id="5" name="TextBox 4">
            <a:extLst>
              <a:ext uri="{FF2B5EF4-FFF2-40B4-BE49-F238E27FC236}">
                <a16:creationId xmlns:a16="http://schemas.microsoft.com/office/drawing/2014/main" id="{B286DA6C-31AC-0F89-390F-2D1777D78853}"/>
              </a:ext>
            </a:extLst>
          </p:cNvPr>
          <p:cNvSpPr txBox="1"/>
          <p:nvPr/>
        </p:nvSpPr>
        <p:spPr>
          <a:xfrm>
            <a:off x="712687" y="4912290"/>
            <a:ext cx="4450984" cy="1323439"/>
          </a:xfrm>
          <a:prstGeom prst="rect">
            <a:avLst/>
          </a:prstGeom>
          <a:noFill/>
        </p:spPr>
        <p:txBody>
          <a:bodyPr wrap="square">
            <a:spAutoFit/>
          </a:bodyPr>
          <a:lstStyle/>
          <a:p>
            <a:r>
              <a:rPr lang="en-AU" sz="2000" dirty="0">
                <a:solidFill>
                  <a:srgbClr val="1A1A1A"/>
                </a:solidFill>
                <a:latin typeface="Proxima Nova Medium" panose="02000506030000020004" pitchFamily="50" charset="0"/>
              </a:rPr>
              <a:t>Proxima Nova Medium </a:t>
            </a:r>
            <a:r>
              <a:rPr lang="en-AU" sz="2000" dirty="0" err="1">
                <a:solidFill>
                  <a:srgbClr val="1A1A1A"/>
                </a:solidFill>
                <a:latin typeface="Proxima Nova Medium" panose="02000506030000020004" pitchFamily="50" charset="0"/>
              </a:rPr>
              <a:t>abcdefghijklmnopqrstuvwxyz</a:t>
            </a:r>
            <a:r>
              <a:rPr lang="en-AU" sz="2000" dirty="0">
                <a:solidFill>
                  <a:srgbClr val="1A1A1A"/>
                </a:solidFill>
                <a:latin typeface="Proxima Nova Medium" panose="02000506030000020004" pitchFamily="50" charset="0"/>
              </a:rPr>
              <a:t> ABCDEFGHIJKLMNOPQRSTUVWXYZ 1234567890</a:t>
            </a:r>
          </a:p>
        </p:txBody>
      </p:sp>
      <p:sp>
        <p:nvSpPr>
          <p:cNvPr id="6" name="TextBox 5">
            <a:extLst>
              <a:ext uri="{FF2B5EF4-FFF2-40B4-BE49-F238E27FC236}">
                <a16:creationId xmlns:a16="http://schemas.microsoft.com/office/drawing/2014/main" id="{1FD11673-329C-BAF9-129E-2E4CC6D4BF62}"/>
              </a:ext>
            </a:extLst>
          </p:cNvPr>
          <p:cNvSpPr txBox="1"/>
          <p:nvPr/>
        </p:nvSpPr>
        <p:spPr>
          <a:xfrm>
            <a:off x="6469821" y="4912289"/>
            <a:ext cx="4450984" cy="1323439"/>
          </a:xfrm>
          <a:prstGeom prst="rect">
            <a:avLst/>
          </a:prstGeom>
          <a:noFill/>
        </p:spPr>
        <p:txBody>
          <a:bodyPr wrap="square">
            <a:spAutoFit/>
          </a:bodyPr>
          <a:lstStyle/>
          <a:p>
            <a:r>
              <a:rPr lang="en-AU" sz="2000" dirty="0">
                <a:solidFill>
                  <a:srgbClr val="1A1A1A"/>
                </a:solidFill>
                <a:latin typeface="Arial" panose="020B0604020202020204" pitchFamily="34" charset="0"/>
                <a:cs typeface="Arial" panose="020B0604020202020204" pitchFamily="34" charset="0"/>
              </a:rPr>
              <a:t>Arial</a:t>
            </a:r>
          </a:p>
          <a:p>
            <a:r>
              <a:rPr lang="en-AU" sz="2000" dirty="0" err="1">
                <a:solidFill>
                  <a:srgbClr val="1A1A1A"/>
                </a:solidFill>
                <a:latin typeface="Arial" panose="020B0604020202020204" pitchFamily="34" charset="0"/>
                <a:cs typeface="Arial" panose="020B0604020202020204" pitchFamily="34" charset="0"/>
              </a:rPr>
              <a:t>abcdefghijklmnopqrstuvwxyz</a:t>
            </a:r>
            <a:r>
              <a:rPr lang="en-AU" sz="2000" dirty="0">
                <a:solidFill>
                  <a:srgbClr val="1A1A1A"/>
                </a:solidFill>
                <a:latin typeface="Arial" panose="020B0604020202020204" pitchFamily="34" charset="0"/>
                <a:cs typeface="Arial" panose="020B0604020202020204" pitchFamily="34" charset="0"/>
              </a:rPr>
              <a:t> ABCDEFGHIJKLMNOPQRSTUVWXYZ 1234567890</a:t>
            </a:r>
          </a:p>
        </p:txBody>
      </p:sp>
      <p:sp>
        <p:nvSpPr>
          <p:cNvPr id="7" name="TextBox 6">
            <a:extLst>
              <a:ext uri="{FF2B5EF4-FFF2-40B4-BE49-F238E27FC236}">
                <a16:creationId xmlns:a16="http://schemas.microsoft.com/office/drawing/2014/main" id="{2170ADDD-DBC4-E3FE-773C-8978A590021E}"/>
              </a:ext>
            </a:extLst>
          </p:cNvPr>
          <p:cNvSpPr txBox="1"/>
          <p:nvPr/>
        </p:nvSpPr>
        <p:spPr>
          <a:xfrm>
            <a:off x="712687" y="4483779"/>
            <a:ext cx="4450984" cy="461665"/>
          </a:xfrm>
          <a:prstGeom prst="rect">
            <a:avLst/>
          </a:prstGeom>
          <a:noFill/>
        </p:spPr>
        <p:txBody>
          <a:bodyPr wrap="square">
            <a:spAutoFit/>
          </a:bodyPr>
          <a:lstStyle/>
          <a:p>
            <a:r>
              <a:rPr lang="en-AU" sz="2400" b="1" dirty="0">
                <a:solidFill>
                  <a:srgbClr val="1A1A1A"/>
                </a:solidFill>
                <a:latin typeface="Proxima Nova Medium" panose="02000506030000020004" pitchFamily="50" charset="0"/>
              </a:rPr>
              <a:t>TEXT 1 </a:t>
            </a:r>
          </a:p>
        </p:txBody>
      </p:sp>
      <p:sp>
        <p:nvSpPr>
          <p:cNvPr id="8" name="TextBox 7">
            <a:extLst>
              <a:ext uri="{FF2B5EF4-FFF2-40B4-BE49-F238E27FC236}">
                <a16:creationId xmlns:a16="http://schemas.microsoft.com/office/drawing/2014/main" id="{8683FE4C-3E10-2545-FFAB-C35D42CB2077}"/>
              </a:ext>
            </a:extLst>
          </p:cNvPr>
          <p:cNvSpPr txBox="1"/>
          <p:nvPr/>
        </p:nvSpPr>
        <p:spPr>
          <a:xfrm>
            <a:off x="6469821" y="4483778"/>
            <a:ext cx="4450984" cy="461665"/>
          </a:xfrm>
          <a:prstGeom prst="rect">
            <a:avLst/>
          </a:prstGeom>
          <a:noFill/>
        </p:spPr>
        <p:txBody>
          <a:bodyPr wrap="square">
            <a:spAutoFit/>
          </a:bodyPr>
          <a:lstStyle/>
          <a:p>
            <a:r>
              <a:rPr lang="en-AU" sz="2400" b="1" dirty="0">
                <a:solidFill>
                  <a:srgbClr val="1A1A1A"/>
                </a:solidFill>
                <a:latin typeface="Proxima Nova Medium" panose="02000506030000020004" pitchFamily="50" charset="0"/>
              </a:rPr>
              <a:t>TEXT 2 </a:t>
            </a:r>
            <a:r>
              <a:rPr lang="en-AU" sz="1600" dirty="0">
                <a:solidFill>
                  <a:srgbClr val="1A1A1A"/>
                </a:solidFill>
                <a:latin typeface="Proxima Nova Medium" panose="02000506030000020004" pitchFamily="50" charset="0"/>
              </a:rPr>
              <a:t>(if text 1 is not available)</a:t>
            </a:r>
            <a:endParaRPr lang="en-AU" sz="2400" b="1" dirty="0">
              <a:solidFill>
                <a:srgbClr val="1A1A1A"/>
              </a:solidFill>
              <a:latin typeface="Proxima Nova Medium" panose="02000506030000020004" pitchFamily="50" charset="0"/>
            </a:endParaRPr>
          </a:p>
        </p:txBody>
      </p:sp>
      <p:sp>
        <p:nvSpPr>
          <p:cNvPr id="3" name="Rectangle 2">
            <a:extLst>
              <a:ext uri="{FF2B5EF4-FFF2-40B4-BE49-F238E27FC236}">
                <a16:creationId xmlns:a16="http://schemas.microsoft.com/office/drawing/2014/main" id="{858E96FC-4020-186A-CDC1-825009A7A27D}"/>
              </a:ext>
            </a:extLst>
          </p:cNvPr>
          <p:cNvSpPr/>
          <p:nvPr/>
        </p:nvSpPr>
        <p:spPr>
          <a:xfrm>
            <a:off x="1" y="6644641"/>
            <a:ext cx="12191999" cy="213360"/>
          </a:xfrm>
          <a:prstGeom prst="rect">
            <a:avLst/>
          </a:prstGeom>
          <a:solidFill>
            <a:srgbClr val="008F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6353077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5A87C-1AC9-4625-13F8-758401E148AC}"/>
              </a:ext>
            </a:extLst>
          </p:cNvPr>
          <p:cNvSpPr txBox="1">
            <a:spLocks/>
          </p:cNvSpPr>
          <p:nvPr/>
        </p:nvSpPr>
        <p:spPr>
          <a:xfrm>
            <a:off x="712687" y="622271"/>
            <a:ext cx="10515600" cy="66864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AU" sz="4000" dirty="0">
                <a:solidFill>
                  <a:srgbClr val="1A1A1A"/>
                </a:solidFill>
                <a:latin typeface="Proxima Nova Lt" panose="02000506030000020004" pitchFamily="2" charset="0"/>
              </a:rPr>
              <a:t>Minimum Size</a:t>
            </a:r>
          </a:p>
        </p:txBody>
      </p:sp>
      <p:sp>
        <p:nvSpPr>
          <p:cNvPr id="3" name="TextBox 2">
            <a:extLst>
              <a:ext uri="{FF2B5EF4-FFF2-40B4-BE49-F238E27FC236}">
                <a16:creationId xmlns:a16="http://schemas.microsoft.com/office/drawing/2014/main" id="{A301409B-959A-E0E6-CC9F-503DB3CD7160}"/>
              </a:ext>
            </a:extLst>
          </p:cNvPr>
          <p:cNvSpPr txBox="1"/>
          <p:nvPr/>
        </p:nvSpPr>
        <p:spPr>
          <a:xfrm>
            <a:off x="712687" y="5459012"/>
            <a:ext cx="1396527" cy="523220"/>
          </a:xfrm>
          <a:prstGeom prst="rect">
            <a:avLst/>
          </a:prstGeom>
          <a:noFill/>
        </p:spPr>
        <p:txBody>
          <a:bodyPr wrap="square" rtlCol="0">
            <a:spAutoFit/>
          </a:bodyPr>
          <a:lstStyle/>
          <a:p>
            <a:pPr algn="ctr"/>
            <a:r>
              <a:rPr lang="en-AU" sz="1400" dirty="0"/>
              <a:t>Print: 3.36cm W</a:t>
            </a:r>
          </a:p>
          <a:p>
            <a:pPr algn="ctr"/>
            <a:r>
              <a:rPr lang="en-AU" sz="1400" dirty="0"/>
              <a:t>Online: 220px W</a:t>
            </a:r>
          </a:p>
        </p:txBody>
      </p:sp>
      <p:sp>
        <p:nvSpPr>
          <p:cNvPr id="10" name="Right Brace 9">
            <a:extLst>
              <a:ext uri="{FF2B5EF4-FFF2-40B4-BE49-F238E27FC236}">
                <a16:creationId xmlns:a16="http://schemas.microsoft.com/office/drawing/2014/main" id="{9EA8A696-02D8-54D8-10D2-5402519ED272}"/>
              </a:ext>
            </a:extLst>
          </p:cNvPr>
          <p:cNvSpPr/>
          <p:nvPr/>
        </p:nvSpPr>
        <p:spPr>
          <a:xfrm rot="5400000">
            <a:off x="1311067" y="4754329"/>
            <a:ext cx="199766" cy="1209600"/>
          </a:xfrm>
          <a:prstGeom prst="rightBrace">
            <a:avLst/>
          </a:prstGeom>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12" name="TextBox 11">
            <a:extLst>
              <a:ext uri="{FF2B5EF4-FFF2-40B4-BE49-F238E27FC236}">
                <a16:creationId xmlns:a16="http://schemas.microsoft.com/office/drawing/2014/main" id="{232AB624-A0C2-DD71-DB93-CF8A0404235E}"/>
              </a:ext>
            </a:extLst>
          </p:cNvPr>
          <p:cNvSpPr txBox="1"/>
          <p:nvPr/>
        </p:nvSpPr>
        <p:spPr>
          <a:xfrm>
            <a:off x="3136536" y="1861415"/>
            <a:ext cx="7954006" cy="923330"/>
          </a:xfrm>
          <a:prstGeom prst="rect">
            <a:avLst/>
          </a:prstGeom>
          <a:noFill/>
        </p:spPr>
        <p:txBody>
          <a:bodyPr wrap="square" rtlCol="0">
            <a:spAutoFit/>
          </a:bodyPr>
          <a:lstStyle/>
          <a:p>
            <a:r>
              <a:rPr lang="en-AU" dirty="0"/>
              <a:t>The AAGI logo minimum size will ensure legibility when printed or published online. </a:t>
            </a:r>
          </a:p>
          <a:p>
            <a:r>
              <a:rPr lang="en-AU" dirty="0"/>
              <a:t>The AAGI logo will frequently be used with the logo block, therefore the minimum size is based on GRDC/strategic partner guidelines. </a:t>
            </a:r>
          </a:p>
        </p:txBody>
      </p:sp>
      <p:sp>
        <p:nvSpPr>
          <p:cNvPr id="16" name="TextBox 15">
            <a:extLst>
              <a:ext uri="{FF2B5EF4-FFF2-40B4-BE49-F238E27FC236}">
                <a16:creationId xmlns:a16="http://schemas.microsoft.com/office/drawing/2014/main" id="{8D197040-D4C6-9E4B-8ACE-CAB409010A2E}"/>
              </a:ext>
            </a:extLst>
          </p:cNvPr>
          <p:cNvSpPr txBox="1"/>
          <p:nvPr/>
        </p:nvSpPr>
        <p:spPr>
          <a:xfrm>
            <a:off x="3707684" y="5459012"/>
            <a:ext cx="1396527" cy="523220"/>
          </a:xfrm>
          <a:prstGeom prst="rect">
            <a:avLst/>
          </a:prstGeom>
          <a:noFill/>
        </p:spPr>
        <p:txBody>
          <a:bodyPr wrap="square" rtlCol="0">
            <a:spAutoFit/>
          </a:bodyPr>
          <a:lstStyle/>
          <a:p>
            <a:pPr algn="ctr"/>
            <a:r>
              <a:rPr lang="en-AU" sz="1400" dirty="0"/>
              <a:t>Print: 3.36cm W</a:t>
            </a:r>
          </a:p>
          <a:p>
            <a:pPr algn="ctr"/>
            <a:r>
              <a:rPr lang="en-AU" sz="1400" dirty="0"/>
              <a:t>Online: 220px W</a:t>
            </a:r>
          </a:p>
        </p:txBody>
      </p:sp>
      <p:sp>
        <p:nvSpPr>
          <p:cNvPr id="17" name="Right Brace 16">
            <a:extLst>
              <a:ext uri="{FF2B5EF4-FFF2-40B4-BE49-F238E27FC236}">
                <a16:creationId xmlns:a16="http://schemas.microsoft.com/office/drawing/2014/main" id="{A1D9B33D-FAB0-A5CB-929A-080F8101ED69}"/>
              </a:ext>
            </a:extLst>
          </p:cNvPr>
          <p:cNvSpPr/>
          <p:nvPr/>
        </p:nvSpPr>
        <p:spPr>
          <a:xfrm rot="5400000">
            <a:off x="4306064" y="4754329"/>
            <a:ext cx="199766" cy="1209600"/>
          </a:xfrm>
          <a:prstGeom prst="rightBrace">
            <a:avLst/>
          </a:prstGeom>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18" name="TextBox 17">
            <a:extLst>
              <a:ext uri="{FF2B5EF4-FFF2-40B4-BE49-F238E27FC236}">
                <a16:creationId xmlns:a16="http://schemas.microsoft.com/office/drawing/2014/main" id="{72E7E52D-B096-1C86-7F43-E1D20FD21822}"/>
              </a:ext>
            </a:extLst>
          </p:cNvPr>
          <p:cNvSpPr txBox="1"/>
          <p:nvPr/>
        </p:nvSpPr>
        <p:spPr>
          <a:xfrm>
            <a:off x="6779980" y="5459012"/>
            <a:ext cx="1396527" cy="523220"/>
          </a:xfrm>
          <a:prstGeom prst="rect">
            <a:avLst/>
          </a:prstGeom>
          <a:noFill/>
        </p:spPr>
        <p:txBody>
          <a:bodyPr wrap="square" rtlCol="0">
            <a:spAutoFit/>
          </a:bodyPr>
          <a:lstStyle/>
          <a:p>
            <a:pPr algn="ctr"/>
            <a:r>
              <a:rPr lang="en-AU" sz="1400" dirty="0"/>
              <a:t>Print: 3.36cm W</a:t>
            </a:r>
          </a:p>
          <a:p>
            <a:pPr algn="ctr"/>
            <a:r>
              <a:rPr lang="en-AU" sz="1400" dirty="0"/>
              <a:t>Online: 220px W</a:t>
            </a:r>
          </a:p>
        </p:txBody>
      </p:sp>
      <p:sp>
        <p:nvSpPr>
          <p:cNvPr id="19" name="Right Brace 18">
            <a:extLst>
              <a:ext uri="{FF2B5EF4-FFF2-40B4-BE49-F238E27FC236}">
                <a16:creationId xmlns:a16="http://schemas.microsoft.com/office/drawing/2014/main" id="{9A74C95F-E9A9-C34A-7B4F-7F9B1EE92AD6}"/>
              </a:ext>
            </a:extLst>
          </p:cNvPr>
          <p:cNvSpPr/>
          <p:nvPr/>
        </p:nvSpPr>
        <p:spPr>
          <a:xfrm rot="5400000">
            <a:off x="7378360" y="4754329"/>
            <a:ext cx="199766" cy="1209600"/>
          </a:xfrm>
          <a:prstGeom prst="rightBrace">
            <a:avLst/>
          </a:prstGeom>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20" name="TextBox 19">
            <a:extLst>
              <a:ext uri="{FF2B5EF4-FFF2-40B4-BE49-F238E27FC236}">
                <a16:creationId xmlns:a16="http://schemas.microsoft.com/office/drawing/2014/main" id="{76D1FDDB-7386-44C4-4AFB-C572038A336D}"/>
              </a:ext>
            </a:extLst>
          </p:cNvPr>
          <p:cNvSpPr txBox="1"/>
          <p:nvPr/>
        </p:nvSpPr>
        <p:spPr>
          <a:xfrm>
            <a:off x="9694015" y="5459012"/>
            <a:ext cx="1396527" cy="523220"/>
          </a:xfrm>
          <a:prstGeom prst="rect">
            <a:avLst/>
          </a:prstGeom>
          <a:noFill/>
        </p:spPr>
        <p:txBody>
          <a:bodyPr wrap="square" rtlCol="0">
            <a:spAutoFit/>
          </a:bodyPr>
          <a:lstStyle/>
          <a:p>
            <a:pPr algn="ctr"/>
            <a:r>
              <a:rPr lang="en-AU" sz="1400" dirty="0"/>
              <a:t>Print: 3.36cm W</a:t>
            </a:r>
          </a:p>
          <a:p>
            <a:pPr algn="ctr"/>
            <a:r>
              <a:rPr lang="en-AU" sz="1400" dirty="0"/>
              <a:t>Online: 220px W</a:t>
            </a:r>
          </a:p>
        </p:txBody>
      </p:sp>
      <p:sp>
        <p:nvSpPr>
          <p:cNvPr id="21" name="Right Brace 20">
            <a:extLst>
              <a:ext uri="{FF2B5EF4-FFF2-40B4-BE49-F238E27FC236}">
                <a16:creationId xmlns:a16="http://schemas.microsoft.com/office/drawing/2014/main" id="{48B14710-5AFE-CC33-0908-742D70A6D351}"/>
              </a:ext>
            </a:extLst>
          </p:cNvPr>
          <p:cNvSpPr/>
          <p:nvPr/>
        </p:nvSpPr>
        <p:spPr>
          <a:xfrm rot="5400000">
            <a:off x="10292395" y="4754329"/>
            <a:ext cx="199766" cy="1209600"/>
          </a:xfrm>
          <a:prstGeom prst="rightBrace">
            <a:avLst/>
          </a:prstGeom>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pic>
        <p:nvPicPr>
          <p:cNvPr id="25" name="Picture 24">
            <a:extLst>
              <a:ext uri="{FF2B5EF4-FFF2-40B4-BE49-F238E27FC236}">
                <a16:creationId xmlns:a16="http://schemas.microsoft.com/office/drawing/2014/main" id="{9E00FA47-54EA-1E88-88C8-6C7D712F4FD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873443" y="4776051"/>
            <a:ext cx="1209600" cy="195920"/>
          </a:xfrm>
          <a:prstGeom prst="rect">
            <a:avLst/>
          </a:prstGeom>
        </p:spPr>
      </p:pic>
      <p:pic>
        <p:nvPicPr>
          <p:cNvPr id="27" name="Picture 26" descr="A logo for a company&#10;&#10;Description automatically generated">
            <a:extLst>
              <a:ext uri="{FF2B5EF4-FFF2-40B4-BE49-F238E27FC236}">
                <a16:creationId xmlns:a16="http://schemas.microsoft.com/office/drawing/2014/main" id="{F099FC8C-1909-7F32-2AD6-985BEBC0954C}"/>
              </a:ext>
            </a:extLst>
          </p:cNvPr>
          <p:cNvPicPr>
            <a:picLocks noChangeAspect="1"/>
          </p:cNvPicPr>
          <p:nvPr/>
        </p:nvPicPr>
        <p:blipFill rotWithShape="1">
          <a:blip r:embed="rId3">
            <a:extLst>
              <a:ext uri="{28A0092B-C50C-407E-A947-70E740481C1C}">
                <a14:useLocalDpi xmlns:a14="http://schemas.microsoft.com/office/drawing/2010/main" val="0"/>
              </a:ext>
            </a:extLst>
          </a:blip>
          <a:srcRect l="8851" r="9672" b="10797"/>
          <a:stretch/>
        </p:blipFill>
        <p:spPr>
          <a:xfrm>
            <a:off x="806150" y="4535018"/>
            <a:ext cx="1209600" cy="677986"/>
          </a:xfrm>
          <a:prstGeom prst="rect">
            <a:avLst/>
          </a:prstGeom>
        </p:spPr>
      </p:pic>
      <p:pic>
        <p:nvPicPr>
          <p:cNvPr id="31" name="Picture 30" descr="A logo for a company&#10;&#10;Description automatically generated">
            <a:extLst>
              <a:ext uri="{FF2B5EF4-FFF2-40B4-BE49-F238E27FC236}">
                <a16:creationId xmlns:a16="http://schemas.microsoft.com/office/drawing/2014/main" id="{565872D6-1241-C86C-75E4-947B4C56E1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5519" y="1891906"/>
            <a:ext cx="1209600" cy="577528"/>
          </a:xfrm>
          <a:prstGeom prst="rect">
            <a:avLst/>
          </a:prstGeom>
        </p:spPr>
      </p:pic>
      <p:sp>
        <p:nvSpPr>
          <p:cNvPr id="1029" name="TextBox 1028">
            <a:extLst>
              <a:ext uri="{FF2B5EF4-FFF2-40B4-BE49-F238E27FC236}">
                <a16:creationId xmlns:a16="http://schemas.microsoft.com/office/drawing/2014/main" id="{4F650F7A-B0FE-B9B3-CFCF-9AFD4CC63ECE}"/>
              </a:ext>
            </a:extLst>
          </p:cNvPr>
          <p:cNvSpPr txBox="1"/>
          <p:nvPr/>
        </p:nvSpPr>
        <p:spPr>
          <a:xfrm>
            <a:off x="892056" y="2778197"/>
            <a:ext cx="1396527" cy="523220"/>
          </a:xfrm>
          <a:prstGeom prst="rect">
            <a:avLst/>
          </a:prstGeom>
          <a:noFill/>
        </p:spPr>
        <p:txBody>
          <a:bodyPr wrap="square" rtlCol="0">
            <a:spAutoFit/>
          </a:bodyPr>
          <a:lstStyle/>
          <a:p>
            <a:pPr algn="ctr"/>
            <a:r>
              <a:rPr lang="en-AU" sz="1400" dirty="0"/>
              <a:t>Print: 3.36cm W</a:t>
            </a:r>
          </a:p>
          <a:p>
            <a:pPr algn="ctr"/>
            <a:r>
              <a:rPr lang="en-AU" sz="1400" dirty="0"/>
              <a:t>Online: 220px W</a:t>
            </a:r>
          </a:p>
        </p:txBody>
      </p:sp>
      <p:sp>
        <p:nvSpPr>
          <p:cNvPr id="1030" name="Right Brace 1029">
            <a:extLst>
              <a:ext uri="{FF2B5EF4-FFF2-40B4-BE49-F238E27FC236}">
                <a16:creationId xmlns:a16="http://schemas.microsoft.com/office/drawing/2014/main" id="{753D65ED-BDC1-41CB-DDD2-72384B59769E}"/>
              </a:ext>
            </a:extLst>
          </p:cNvPr>
          <p:cNvSpPr/>
          <p:nvPr/>
        </p:nvSpPr>
        <p:spPr>
          <a:xfrm rot="5400000">
            <a:off x="1490436" y="2073514"/>
            <a:ext cx="199766" cy="1209600"/>
          </a:xfrm>
          <a:prstGeom prst="rightBrace">
            <a:avLst/>
          </a:prstGeom>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1031" name="TextBox 1030">
            <a:extLst>
              <a:ext uri="{FF2B5EF4-FFF2-40B4-BE49-F238E27FC236}">
                <a16:creationId xmlns:a16="http://schemas.microsoft.com/office/drawing/2014/main" id="{F3B1AF7E-12E9-5DC9-693D-032CB39D8748}"/>
              </a:ext>
            </a:extLst>
          </p:cNvPr>
          <p:cNvSpPr txBox="1"/>
          <p:nvPr/>
        </p:nvSpPr>
        <p:spPr>
          <a:xfrm>
            <a:off x="712687" y="3979799"/>
            <a:ext cx="7465145" cy="369332"/>
          </a:xfrm>
          <a:prstGeom prst="rect">
            <a:avLst/>
          </a:prstGeom>
          <a:noFill/>
        </p:spPr>
        <p:txBody>
          <a:bodyPr wrap="square" rtlCol="0">
            <a:spAutoFit/>
          </a:bodyPr>
          <a:lstStyle/>
          <a:p>
            <a:r>
              <a:rPr lang="en-AU" dirty="0"/>
              <a:t>Minimum size of GRDC and strategic partners in block:</a:t>
            </a:r>
          </a:p>
        </p:txBody>
      </p:sp>
      <p:sp>
        <p:nvSpPr>
          <p:cNvPr id="4" name="Rectangle 3">
            <a:extLst>
              <a:ext uri="{FF2B5EF4-FFF2-40B4-BE49-F238E27FC236}">
                <a16:creationId xmlns:a16="http://schemas.microsoft.com/office/drawing/2014/main" id="{F441314F-B3B5-06E1-EC38-00BA89FA0E28}"/>
              </a:ext>
            </a:extLst>
          </p:cNvPr>
          <p:cNvSpPr/>
          <p:nvPr/>
        </p:nvSpPr>
        <p:spPr>
          <a:xfrm>
            <a:off x="1" y="6644641"/>
            <a:ext cx="12191999" cy="213360"/>
          </a:xfrm>
          <a:prstGeom prst="rect">
            <a:avLst/>
          </a:prstGeom>
          <a:solidFill>
            <a:srgbClr val="008F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5" name="Picture 4" descr="A purple text on a black background&#10;&#10;Description automatically generated">
            <a:extLst>
              <a:ext uri="{FF2B5EF4-FFF2-40B4-BE49-F238E27FC236}">
                <a16:creationId xmlns:a16="http://schemas.microsoft.com/office/drawing/2014/main" id="{18B353A1-B009-434F-CF3B-6EBC6CEDA56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87478" y="4715433"/>
            <a:ext cx="1209600" cy="317156"/>
          </a:xfrm>
          <a:prstGeom prst="rect">
            <a:avLst/>
          </a:prstGeom>
        </p:spPr>
      </p:pic>
      <p:pic>
        <p:nvPicPr>
          <p:cNvPr id="1026" name="Picture 2">
            <a:extLst>
              <a:ext uri="{FF2B5EF4-FFF2-40B4-BE49-F238E27FC236}">
                <a16:creationId xmlns:a16="http://schemas.microsoft.com/office/drawing/2014/main" id="{40D43214-6AAA-ADC0-7DB7-4ABEAE5ADA5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01147" y="4729111"/>
            <a:ext cx="1209600" cy="28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68108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BAD16FE-A828-0098-D89C-EF68F4DB1148}"/>
              </a:ext>
            </a:extLst>
          </p:cNvPr>
          <p:cNvSpPr txBox="1"/>
          <p:nvPr/>
        </p:nvSpPr>
        <p:spPr>
          <a:xfrm>
            <a:off x="1288382" y="746441"/>
            <a:ext cx="2249424" cy="369332"/>
          </a:xfrm>
          <a:prstGeom prst="rect">
            <a:avLst/>
          </a:prstGeom>
          <a:noFill/>
        </p:spPr>
        <p:txBody>
          <a:bodyPr wrap="square" rtlCol="0">
            <a:spAutoFit/>
          </a:bodyPr>
          <a:lstStyle/>
          <a:p>
            <a:r>
              <a:rPr lang="en-AU" dirty="0">
                <a:latin typeface="Proxima Nova Lt" panose="02000506030000020004" pitchFamily="2" charset="0"/>
              </a:rPr>
              <a:t>Pull up banner</a:t>
            </a:r>
          </a:p>
        </p:txBody>
      </p:sp>
      <p:sp>
        <p:nvSpPr>
          <p:cNvPr id="10" name="TextBox 9">
            <a:extLst>
              <a:ext uri="{FF2B5EF4-FFF2-40B4-BE49-F238E27FC236}">
                <a16:creationId xmlns:a16="http://schemas.microsoft.com/office/drawing/2014/main" id="{939EBBB2-341D-6A04-7D54-C701F8F95E5F}"/>
              </a:ext>
            </a:extLst>
          </p:cNvPr>
          <p:cNvSpPr txBox="1"/>
          <p:nvPr/>
        </p:nvSpPr>
        <p:spPr>
          <a:xfrm>
            <a:off x="6943344" y="775240"/>
            <a:ext cx="2249424" cy="369332"/>
          </a:xfrm>
          <a:prstGeom prst="rect">
            <a:avLst/>
          </a:prstGeom>
          <a:noFill/>
        </p:spPr>
        <p:txBody>
          <a:bodyPr wrap="square" rtlCol="0">
            <a:spAutoFit/>
          </a:bodyPr>
          <a:lstStyle/>
          <a:p>
            <a:r>
              <a:rPr lang="en-AU" dirty="0">
                <a:latin typeface="Proxima Nova Lt" panose="02000506030000020004" pitchFamily="2" charset="0"/>
              </a:rPr>
              <a:t>Letterhead </a:t>
            </a:r>
          </a:p>
        </p:txBody>
      </p:sp>
      <p:sp>
        <p:nvSpPr>
          <p:cNvPr id="4" name="Rectangle 3">
            <a:extLst>
              <a:ext uri="{FF2B5EF4-FFF2-40B4-BE49-F238E27FC236}">
                <a16:creationId xmlns:a16="http://schemas.microsoft.com/office/drawing/2014/main" id="{1A37BF76-05B8-B949-CCBC-9F1B697BDF5E}"/>
              </a:ext>
            </a:extLst>
          </p:cNvPr>
          <p:cNvSpPr/>
          <p:nvPr/>
        </p:nvSpPr>
        <p:spPr>
          <a:xfrm>
            <a:off x="1362073" y="1144572"/>
            <a:ext cx="2249426" cy="52739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3" name="Picture 12" descr="A tractor working in a field&#10;&#10;Description automatically generated">
            <a:extLst>
              <a:ext uri="{FF2B5EF4-FFF2-40B4-BE49-F238E27FC236}">
                <a16:creationId xmlns:a16="http://schemas.microsoft.com/office/drawing/2014/main" id="{BA46E78F-7BFF-5CBF-AE94-8777CF283359}"/>
              </a:ext>
            </a:extLst>
          </p:cNvPr>
          <p:cNvPicPr>
            <a:picLocks noChangeAspect="1"/>
          </p:cNvPicPr>
          <p:nvPr/>
        </p:nvPicPr>
        <p:blipFill rotWithShape="1">
          <a:blip r:embed="rId2">
            <a:extLst>
              <a:ext uri="{28A0092B-C50C-407E-A947-70E740481C1C}">
                <a14:useLocalDpi xmlns:a14="http://schemas.microsoft.com/office/drawing/2010/main" val="0"/>
              </a:ext>
            </a:extLst>
          </a:blip>
          <a:srcRect l="14504" r="18216"/>
          <a:stretch/>
        </p:blipFill>
        <p:spPr>
          <a:xfrm>
            <a:off x="1362074" y="2270840"/>
            <a:ext cx="2249423" cy="1879140"/>
          </a:xfrm>
          <a:prstGeom prst="rect">
            <a:avLst/>
          </a:prstGeom>
        </p:spPr>
      </p:pic>
      <p:sp>
        <p:nvSpPr>
          <p:cNvPr id="15" name="Rectangle 14">
            <a:extLst>
              <a:ext uri="{FF2B5EF4-FFF2-40B4-BE49-F238E27FC236}">
                <a16:creationId xmlns:a16="http://schemas.microsoft.com/office/drawing/2014/main" id="{C88E60B0-6E76-309A-CAA8-848BEC2D80AD}"/>
              </a:ext>
            </a:extLst>
          </p:cNvPr>
          <p:cNvSpPr/>
          <p:nvPr/>
        </p:nvSpPr>
        <p:spPr>
          <a:xfrm>
            <a:off x="1362071" y="4539380"/>
            <a:ext cx="2249426" cy="1879140"/>
          </a:xfrm>
          <a:prstGeom prst="rect">
            <a:avLst/>
          </a:prstGeom>
          <a:solidFill>
            <a:srgbClr val="008F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TextBox 13">
            <a:extLst>
              <a:ext uri="{FF2B5EF4-FFF2-40B4-BE49-F238E27FC236}">
                <a16:creationId xmlns:a16="http://schemas.microsoft.com/office/drawing/2014/main" id="{26B1AD4C-1740-BD40-0D14-ED6AAAC8AE95}"/>
              </a:ext>
            </a:extLst>
          </p:cNvPr>
          <p:cNvSpPr txBox="1"/>
          <p:nvPr/>
        </p:nvSpPr>
        <p:spPr>
          <a:xfrm>
            <a:off x="1362069" y="6042673"/>
            <a:ext cx="2210165" cy="323165"/>
          </a:xfrm>
          <a:prstGeom prst="rect">
            <a:avLst/>
          </a:prstGeom>
          <a:noFill/>
        </p:spPr>
        <p:txBody>
          <a:bodyPr wrap="square" rtlCol="0">
            <a:spAutoFit/>
          </a:bodyPr>
          <a:lstStyle/>
          <a:p>
            <a:r>
              <a:rPr lang="en-AU" sz="500" i="1" dirty="0">
                <a:solidFill>
                  <a:schemeClr val="bg1"/>
                </a:solidFill>
                <a:latin typeface="Arial" panose="020B0604020202020204" pitchFamily="34" charset="0"/>
                <a:cs typeface="Arial" panose="020B0604020202020204" pitchFamily="34" charset="0"/>
              </a:rPr>
              <a:t>AAGI is an investment of the Grains Research and Development Corporation (GRDC). It is led by strategic partners Curtin University, the University of Queensland and the University of Adelaide. </a:t>
            </a:r>
          </a:p>
        </p:txBody>
      </p:sp>
      <p:sp>
        <p:nvSpPr>
          <p:cNvPr id="17" name="TextBox 16">
            <a:extLst>
              <a:ext uri="{FF2B5EF4-FFF2-40B4-BE49-F238E27FC236}">
                <a16:creationId xmlns:a16="http://schemas.microsoft.com/office/drawing/2014/main" id="{A8739FE6-51C5-175A-55B4-772DEF0D1417}"/>
              </a:ext>
            </a:extLst>
          </p:cNvPr>
          <p:cNvSpPr txBox="1"/>
          <p:nvPr/>
        </p:nvSpPr>
        <p:spPr>
          <a:xfrm>
            <a:off x="238316" y="108086"/>
            <a:ext cx="5020056" cy="584775"/>
          </a:xfrm>
          <a:prstGeom prst="rect">
            <a:avLst/>
          </a:prstGeom>
          <a:noFill/>
        </p:spPr>
        <p:txBody>
          <a:bodyPr wrap="square" rtlCol="0">
            <a:spAutoFit/>
          </a:bodyPr>
          <a:lstStyle/>
          <a:p>
            <a:r>
              <a:rPr lang="en-AU" sz="3200" dirty="0">
                <a:solidFill>
                  <a:srgbClr val="1A1A1A"/>
                </a:solidFill>
                <a:latin typeface="Proxima Nova Lt" panose="02000506030000020004" pitchFamily="2" charset="0"/>
              </a:rPr>
              <a:t>Placement of AAGI Logo </a:t>
            </a:r>
          </a:p>
        </p:txBody>
      </p:sp>
      <p:pic>
        <p:nvPicPr>
          <p:cNvPr id="5" name="Picture 4" descr="A close-up of a logo&#10;&#10;Description automatically generated">
            <a:extLst>
              <a:ext uri="{FF2B5EF4-FFF2-40B4-BE49-F238E27FC236}">
                <a16:creationId xmlns:a16="http://schemas.microsoft.com/office/drawing/2014/main" id="{D19F50A4-4651-0487-6525-201A11F8BA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5489" y="4200737"/>
            <a:ext cx="2166745" cy="309844"/>
          </a:xfrm>
          <a:prstGeom prst="rect">
            <a:avLst/>
          </a:prstGeom>
        </p:spPr>
      </p:pic>
      <p:pic>
        <p:nvPicPr>
          <p:cNvPr id="8" name="Picture 7">
            <a:extLst>
              <a:ext uri="{FF2B5EF4-FFF2-40B4-BE49-F238E27FC236}">
                <a16:creationId xmlns:a16="http://schemas.microsoft.com/office/drawing/2014/main" id="{817D8644-D9D0-334A-345E-989D416477DD}"/>
              </a:ext>
            </a:extLst>
          </p:cNvPr>
          <p:cNvPicPr>
            <a:picLocks noChangeAspect="1"/>
          </p:cNvPicPr>
          <p:nvPr/>
        </p:nvPicPr>
        <p:blipFill>
          <a:blip r:embed="rId4"/>
          <a:stretch>
            <a:fillRect/>
          </a:stretch>
        </p:blipFill>
        <p:spPr>
          <a:xfrm>
            <a:off x="6943344" y="1144572"/>
            <a:ext cx="3805162" cy="5370576"/>
          </a:xfrm>
          <a:prstGeom prst="rect">
            <a:avLst/>
          </a:prstGeom>
          <a:ln w="3175">
            <a:solidFill>
              <a:schemeClr val="tx1"/>
            </a:solidFill>
          </a:ln>
        </p:spPr>
      </p:pic>
      <p:pic>
        <p:nvPicPr>
          <p:cNvPr id="3" name="Picture 2" descr="A logo with text on it&#10;&#10;Description automatically generated">
            <a:extLst>
              <a:ext uri="{FF2B5EF4-FFF2-40B4-BE49-F238E27FC236}">
                <a16:creationId xmlns:a16="http://schemas.microsoft.com/office/drawing/2014/main" id="{BA8EAE2C-11EC-3A2B-693A-CC576D9566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69008" y="1649315"/>
            <a:ext cx="972344" cy="464249"/>
          </a:xfrm>
          <a:prstGeom prst="rect">
            <a:avLst/>
          </a:prstGeom>
        </p:spPr>
      </p:pic>
      <p:sp>
        <p:nvSpPr>
          <p:cNvPr id="2" name="Rectangle 1">
            <a:extLst>
              <a:ext uri="{FF2B5EF4-FFF2-40B4-BE49-F238E27FC236}">
                <a16:creationId xmlns:a16="http://schemas.microsoft.com/office/drawing/2014/main" id="{1E6A122A-FA10-5EF1-931E-B47B8AAF1263}"/>
              </a:ext>
            </a:extLst>
          </p:cNvPr>
          <p:cNvSpPr/>
          <p:nvPr/>
        </p:nvSpPr>
        <p:spPr>
          <a:xfrm>
            <a:off x="1" y="6644641"/>
            <a:ext cx="12191999" cy="213360"/>
          </a:xfrm>
          <a:prstGeom prst="rect">
            <a:avLst/>
          </a:prstGeom>
          <a:solidFill>
            <a:srgbClr val="008F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6805154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A0639E5F-6387-433D-F0D9-2823A48DFF59}"/>
              </a:ext>
            </a:extLst>
          </p:cNvPr>
          <p:cNvSpPr>
            <a:spLocks noGrp="1"/>
          </p:cNvSpPr>
          <p:nvPr>
            <p:ph type="title"/>
          </p:nvPr>
        </p:nvSpPr>
        <p:spPr>
          <a:xfrm>
            <a:off x="781930" y="1942490"/>
            <a:ext cx="10515600" cy="982091"/>
          </a:xfrm>
        </p:spPr>
        <p:txBody>
          <a:bodyPr/>
          <a:lstStyle/>
          <a:p>
            <a:pPr algn="ctr"/>
            <a:r>
              <a:rPr lang="en-AU" dirty="0">
                <a:solidFill>
                  <a:srgbClr val="1A1A1A"/>
                </a:solidFill>
                <a:latin typeface="Proxima Nova Lt" panose="02000506030000020004" pitchFamily="2" charset="0"/>
              </a:rPr>
              <a:t>Cover Slide template</a:t>
            </a:r>
          </a:p>
        </p:txBody>
      </p:sp>
      <p:sp>
        <p:nvSpPr>
          <p:cNvPr id="11" name="Content Placeholder 2">
            <a:extLst>
              <a:ext uri="{FF2B5EF4-FFF2-40B4-BE49-F238E27FC236}">
                <a16:creationId xmlns:a16="http://schemas.microsoft.com/office/drawing/2014/main" id="{FC5CF8AF-8E8C-45E7-84F5-0E59BF4CD885}"/>
              </a:ext>
            </a:extLst>
          </p:cNvPr>
          <p:cNvSpPr>
            <a:spLocks noGrp="1"/>
          </p:cNvSpPr>
          <p:nvPr>
            <p:ph idx="1"/>
          </p:nvPr>
        </p:nvSpPr>
        <p:spPr>
          <a:xfrm>
            <a:off x="3737422" y="3016874"/>
            <a:ext cx="4732517" cy="412125"/>
          </a:xfrm>
        </p:spPr>
        <p:txBody>
          <a:bodyPr>
            <a:normAutofit fontScale="92500" lnSpcReduction="10000"/>
          </a:bodyPr>
          <a:lstStyle/>
          <a:p>
            <a:pPr marL="0" indent="0" algn="ctr">
              <a:buNone/>
            </a:pPr>
            <a:r>
              <a:rPr lang="en-AU" dirty="0">
                <a:solidFill>
                  <a:srgbClr val="1A1A1A"/>
                </a:solidFill>
                <a:latin typeface="Proxima Nova Lt" panose="02000506030000020004" pitchFamily="2" charset="0"/>
              </a:rPr>
              <a:t>Presenter name/date</a:t>
            </a:r>
          </a:p>
          <a:p>
            <a:pPr marL="0" indent="0">
              <a:buNone/>
            </a:pPr>
            <a:endParaRPr lang="en-AU" dirty="0">
              <a:solidFill>
                <a:srgbClr val="1A1A1A"/>
              </a:solidFill>
            </a:endParaRPr>
          </a:p>
        </p:txBody>
      </p:sp>
      <p:sp>
        <p:nvSpPr>
          <p:cNvPr id="3" name="Rectangle 2">
            <a:extLst>
              <a:ext uri="{FF2B5EF4-FFF2-40B4-BE49-F238E27FC236}">
                <a16:creationId xmlns:a16="http://schemas.microsoft.com/office/drawing/2014/main" id="{020FF183-45C0-C126-E4B9-1AA31D1F674E}"/>
              </a:ext>
            </a:extLst>
          </p:cNvPr>
          <p:cNvSpPr/>
          <p:nvPr/>
        </p:nvSpPr>
        <p:spPr>
          <a:xfrm>
            <a:off x="1" y="6644641"/>
            <a:ext cx="12191999" cy="213360"/>
          </a:xfrm>
          <a:prstGeom prst="rect">
            <a:avLst/>
          </a:prstGeom>
          <a:solidFill>
            <a:srgbClr val="008F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6" name="Picture 15" descr="A field of grass and blue sky&#10;&#10;Description automatically generated">
            <a:extLst>
              <a:ext uri="{FF2B5EF4-FFF2-40B4-BE49-F238E27FC236}">
                <a16:creationId xmlns:a16="http://schemas.microsoft.com/office/drawing/2014/main" id="{074DC064-BDAE-C2ED-CD06-6E71FBE8D052}"/>
              </a:ext>
            </a:extLst>
          </p:cNvPr>
          <p:cNvPicPr>
            <a:picLocks noChangeAspect="1"/>
          </p:cNvPicPr>
          <p:nvPr/>
        </p:nvPicPr>
        <p:blipFill rotWithShape="1">
          <a:blip r:embed="rId2">
            <a:extLst>
              <a:ext uri="{28A0092B-C50C-407E-A947-70E740481C1C}">
                <a14:useLocalDpi xmlns:a14="http://schemas.microsoft.com/office/drawing/2010/main" val="0"/>
              </a:ext>
            </a:extLst>
          </a:blip>
          <a:srcRect t="40245" b="37512"/>
          <a:stretch/>
        </p:blipFill>
        <p:spPr>
          <a:xfrm>
            <a:off x="-1" y="4135273"/>
            <a:ext cx="12207365" cy="1810366"/>
          </a:xfrm>
          <a:prstGeom prst="rect">
            <a:avLst/>
          </a:prstGeom>
        </p:spPr>
      </p:pic>
      <p:pic>
        <p:nvPicPr>
          <p:cNvPr id="4" name="Picture 3">
            <a:extLst>
              <a:ext uri="{FF2B5EF4-FFF2-40B4-BE49-F238E27FC236}">
                <a16:creationId xmlns:a16="http://schemas.microsoft.com/office/drawing/2014/main" id="{2B93FF43-D09D-828C-FE0B-3E0DB2B43338}"/>
              </a:ext>
            </a:extLst>
          </p:cNvPr>
          <p:cNvPicPr>
            <a:picLocks noChangeAspect="1"/>
          </p:cNvPicPr>
          <p:nvPr/>
        </p:nvPicPr>
        <p:blipFill>
          <a:blip r:embed="rId3">
            <a:extLst>
              <a:ext uri="{28A0092B-C50C-407E-A947-70E740481C1C}">
                <a14:useLocalDpi xmlns:a14="http://schemas.microsoft.com/office/drawing/2010/main" val="0"/>
              </a:ext>
            </a:extLst>
          </a:blip>
          <a:srcRect t="18905" b="18905"/>
          <a:stretch/>
        </p:blipFill>
        <p:spPr>
          <a:xfrm>
            <a:off x="0" y="6075820"/>
            <a:ext cx="12192001" cy="511791"/>
          </a:xfrm>
          <a:prstGeom prst="rect">
            <a:avLst/>
          </a:prstGeom>
        </p:spPr>
      </p:pic>
      <p:pic>
        <p:nvPicPr>
          <p:cNvPr id="5" name="Picture 4">
            <a:extLst>
              <a:ext uri="{FF2B5EF4-FFF2-40B4-BE49-F238E27FC236}">
                <a16:creationId xmlns:a16="http://schemas.microsoft.com/office/drawing/2014/main" id="{6A3E8072-8250-49B7-44A7-0C1F740DC959}"/>
              </a:ext>
            </a:extLst>
          </p:cNvPr>
          <p:cNvPicPr>
            <a:picLocks noChangeAspect="1"/>
          </p:cNvPicPr>
          <p:nvPr/>
        </p:nvPicPr>
        <p:blipFill>
          <a:blip r:embed="rId4"/>
          <a:stretch>
            <a:fillRect/>
          </a:stretch>
        </p:blipFill>
        <p:spPr>
          <a:xfrm>
            <a:off x="4957904" y="291560"/>
            <a:ext cx="2276191" cy="1086776"/>
          </a:xfrm>
          <a:prstGeom prst="rect">
            <a:avLst/>
          </a:prstGeom>
        </p:spPr>
      </p:pic>
    </p:spTree>
    <p:extLst>
      <p:ext uri="{BB962C8B-B14F-4D97-AF65-F5344CB8AC3E}">
        <p14:creationId xmlns:p14="http://schemas.microsoft.com/office/powerpoint/2010/main" val="2866402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A0639E5F-6387-433D-F0D9-2823A48DFF59}"/>
              </a:ext>
            </a:extLst>
          </p:cNvPr>
          <p:cNvSpPr>
            <a:spLocks noGrp="1"/>
          </p:cNvSpPr>
          <p:nvPr>
            <p:ph type="title"/>
          </p:nvPr>
        </p:nvSpPr>
        <p:spPr>
          <a:xfrm>
            <a:off x="332232" y="101122"/>
            <a:ext cx="10515600" cy="982091"/>
          </a:xfrm>
        </p:spPr>
        <p:txBody>
          <a:bodyPr>
            <a:normAutofit/>
          </a:bodyPr>
          <a:lstStyle/>
          <a:p>
            <a:r>
              <a:rPr lang="en-AU" sz="4000" dirty="0">
                <a:solidFill>
                  <a:srgbClr val="1A1A1A"/>
                </a:solidFill>
                <a:latin typeface="Proxima Nova Lt" panose="02000506030000020004" pitchFamily="2" charset="0"/>
              </a:rPr>
              <a:t>Slide template and table template</a:t>
            </a:r>
          </a:p>
        </p:txBody>
      </p:sp>
      <p:sp>
        <p:nvSpPr>
          <p:cNvPr id="11" name="Content Placeholder 2">
            <a:extLst>
              <a:ext uri="{FF2B5EF4-FFF2-40B4-BE49-F238E27FC236}">
                <a16:creationId xmlns:a16="http://schemas.microsoft.com/office/drawing/2014/main" id="{FC5CF8AF-8E8C-45E7-84F5-0E59BF4CD885}"/>
              </a:ext>
            </a:extLst>
          </p:cNvPr>
          <p:cNvSpPr>
            <a:spLocks noGrp="1"/>
          </p:cNvSpPr>
          <p:nvPr>
            <p:ph idx="1"/>
          </p:nvPr>
        </p:nvSpPr>
        <p:spPr>
          <a:xfrm>
            <a:off x="838200" y="1330864"/>
            <a:ext cx="10515600" cy="1402079"/>
          </a:xfrm>
        </p:spPr>
        <p:txBody>
          <a:bodyPr>
            <a:normAutofit/>
          </a:bodyPr>
          <a:lstStyle/>
          <a:p>
            <a:r>
              <a:rPr lang="en-AU" sz="2400" dirty="0">
                <a:solidFill>
                  <a:srgbClr val="1A1A1A"/>
                </a:solidFill>
                <a:latin typeface="Proxima Nova Rg" panose="02000506030000020004" pitchFamily="50" charset="0"/>
              </a:rPr>
              <a:t>Slide Text</a:t>
            </a:r>
          </a:p>
          <a:p>
            <a:r>
              <a:rPr lang="en-AU" sz="2400" dirty="0">
                <a:solidFill>
                  <a:srgbClr val="1A1A1A"/>
                </a:solidFill>
                <a:latin typeface="Proxima Nova Rg" panose="02000506030000020004" pitchFamily="50" charset="0"/>
              </a:rPr>
              <a:t>Example of a table with AAGI colour:</a:t>
            </a:r>
          </a:p>
          <a:p>
            <a:pPr marL="0" indent="0">
              <a:buNone/>
            </a:pPr>
            <a:endParaRPr lang="en-AU" sz="2400" dirty="0">
              <a:solidFill>
                <a:srgbClr val="1A1A1A"/>
              </a:solidFill>
            </a:endParaRPr>
          </a:p>
        </p:txBody>
      </p:sp>
      <p:graphicFrame>
        <p:nvGraphicFramePr>
          <p:cNvPr id="2" name="Table 1">
            <a:extLst>
              <a:ext uri="{FF2B5EF4-FFF2-40B4-BE49-F238E27FC236}">
                <a16:creationId xmlns:a16="http://schemas.microsoft.com/office/drawing/2014/main" id="{B97F071A-1392-D30B-056B-594CDE749403}"/>
              </a:ext>
            </a:extLst>
          </p:cNvPr>
          <p:cNvGraphicFramePr>
            <a:graphicFrameLocks noGrp="1"/>
          </p:cNvGraphicFramePr>
          <p:nvPr>
            <p:extLst>
              <p:ext uri="{D42A27DB-BD31-4B8C-83A1-F6EECF244321}">
                <p14:modId xmlns:p14="http://schemas.microsoft.com/office/powerpoint/2010/main" val="2207402249"/>
              </p:ext>
            </p:extLst>
          </p:nvPr>
        </p:nvGraphicFramePr>
        <p:xfrm>
          <a:off x="975360" y="2950464"/>
          <a:ext cx="9369553" cy="2596895"/>
        </p:xfrm>
        <a:graphic>
          <a:graphicData uri="http://schemas.openxmlformats.org/drawingml/2006/table">
            <a:tbl>
              <a:tblPr firstRow="1" bandRow="1">
                <a:tableStyleId>{5C22544A-7EE6-4342-B048-85BDC9FD1C3A}</a:tableStyleId>
              </a:tblPr>
              <a:tblGrid>
                <a:gridCol w="3031745">
                  <a:extLst>
                    <a:ext uri="{9D8B030D-6E8A-4147-A177-3AD203B41FA5}">
                      <a16:colId xmlns:a16="http://schemas.microsoft.com/office/drawing/2014/main" val="2799402136"/>
                    </a:ext>
                  </a:extLst>
                </a:gridCol>
                <a:gridCol w="3168904">
                  <a:extLst>
                    <a:ext uri="{9D8B030D-6E8A-4147-A177-3AD203B41FA5}">
                      <a16:colId xmlns:a16="http://schemas.microsoft.com/office/drawing/2014/main" val="2988851798"/>
                    </a:ext>
                  </a:extLst>
                </a:gridCol>
                <a:gridCol w="3168904">
                  <a:extLst>
                    <a:ext uri="{9D8B030D-6E8A-4147-A177-3AD203B41FA5}">
                      <a16:colId xmlns:a16="http://schemas.microsoft.com/office/drawing/2014/main" val="3752555480"/>
                    </a:ext>
                  </a:extLst>
                </a:gridCol>
              </a:tblGrid>
              <a:tr h="519379">
                <a:tc>
                  <a:txBody>
                    <a:bodyPr/>
                    <a:lstStyle/>
                    <a:p>
                      <a:r>
                        <a:rPr lang="en-AU" dirty="0">
                          <a:latin typeface="Proxima Nova Lt" panose="02000506030000020004" pitchFamily="2" charset="0"/>
                        </a:rPr>
                        <a:t>Table Heading</a:t>
                      </a:r>
                    </a:p>
                  </a:txBody>
                  <a:tcPr>
                    <a:solidFill>
                      <a:srgbClr val="008F97"/>
                    </a:solidFill>
                  </a:tcPr>
                </a:tc>
                <a:tc>
                  <a:txBody>
                    <a:bodyPr/>
                    <a:lstStyle/>
                    <a:p>
                      <a:endParaRPr lang="en-AU" dirty="0"/>
                    </a:p>
                  </a:txBody>
                  <a:tcPr>
                    <a:solidFill>
                      <a:srgbClr val="008F97"/>
                    </a:solidFill>
                  </a:tcPr>
                </a:tc>
                <a:tc>
                  <a:txBody>
                    <a:bodyPr/>
                    <a:lstStyle/>
                    <a:p>
                      <a:endParaRPr lang="en-AU" dirty="0"/>
                    </a:p>
                  </a:txBody>
                  <a:tcPr>
                    <a:solidFill>
                      <a:srgbClr val="008F97"/>
                    </a:solidFill>
                  </a:tcPr>
                </a:tc>
                <a:extLst>
                  <a:ext uri="{0D108BD9-81ED-4DB2-BD59-A6C34878D82A}">
                    <a16:rowId xmlns:a16="http://schemas.microsoft.com/office/drawing/2014/main" val="1586888135"/>
                  </a:ext>
                </a:extLst>
              </a:tr>
              <a:tr h="519379">
                <a:tc>
                  <a:txBody>
                    <a:bodyPr/>
                    <a:lstStyle/>
                    <a:p>
                      <a:r>
                        <a:rPr lang="en-AU" sz="1600" dirty="0">
                          <a:latin typeface="Proxima Nova Rg" panose="02000506030000020004" pitchFamily="50" charset="0"/>
                        </a:rPr>
                        <a:t>Table Sub-Heading</a:t>
                      </a:r>
                    </a:p>
                  </a:txBody>
                  <a:tcPr>
                    <a:solidFill>
                      <a:schemeClr val="bg2">
                        <a:lumMod val="75000"/>
                      </a:schemeClr>
                    </a:solidFill>
                  </a:tcPr>
                </a:tc>
                <a:tc>
                  <a:txBody>
                    <a:bodyPr/>
                    <a:lstStyle/>
                    <a:p>
                      <a:endParaRPr lang="en-AU" dirty="0"/>
                    </a:p>
                  </a:txBody>
                  <a:tcPr>
                    <a:solidFill>
                      <a:schemeClr val="bg2">
                        <a:lumMod val="75000"/>
                      </a:schemeClr>
                    </a:solidFill>
                  </a:tcPr>
                </a:tc>
                <a:tc>
                  <a:txBody>
                    <a:bodyPr/>
                    <a:lstStyle/>
                    <a:p>
                      <a:endParaRPr lang="en-AU" dirty="0"/>
                    </a:p>
                  </a:txBody>
                  <a:tcPr>
                    <a:solidFill>
                      <a:schemeClr val="bg2">
                        <a:lumMod val="75000"/>
                      </a:schemeClr>
                    </a:solidFill>
                  </a:tcPr>
                </a:tc>
                <a:extLst>
                  <a:ext uri="{0D108BD9-81ED-4DB2-BD59-A6C34878D82A}">
                    <a16:rowId xmlns:a16="http://schemas.microsoft.com/office/drawing/2014/main" val="811470155"/>
                  </a:ext>
                </a:extLst>
              </a:tr>
              <a:tr h="519379">
                <a:tc>
                  <a:txBody>
                    <a:bodyPr/>
                    <a:lstStyle/>
                    <a:p>
                      <a:endParaRPr lang="en-AU" dirty="0"/>
                    </a:p>
                  </a:txBody>
                  <a:tcPr>
                    <a:solidFill>
                      <a:schemeClr val="bg2"/>
                    </a:solidFill>
                  </a:tcPr>
                </a:tc>
                <a:tc>
                  <a:txBody>
                    <a:bodyPr/>
                    <a:lstStyle/>
                    <a:p>
                      <a:endParaRPr lang="en-AU" dirty="0"/>
                    </a:p>
                  </a:txBody>
                  <a:tcPr>
                    <a:solidFill>
                      <a:schemeClr val="bg2"/>
                    </a:solidFill>
                  </a:tcPr>
                </a:tc>
                <a:tc>
                  <a:txBody>
                    <a:bodyPr/>
                    <a:lstStyle/>
                    <a:p>
                      <a:endParaRPr lang="en-AU" dirty="0"/>
                    </a:p>
                  </a:txBody>
                  <a:tcPr>
                    <a:solidFill>
                      <a:schemeClr val="bg2"/>
                    </a:solidFill>
                  </a:tcPr>
                </a:tc>
                <a:extLst>
                  <a:ext uri="{0D108BD9-81ED-4DB2-BD59-A6C34878D82A}">
                    <a16:rowId xmlns:a16="http://schemas.microsoft.com/office/drawing/2014/main" val="1213113052"/>
                  </a:ext>
                </a:extLst>
              </a:tr>
              <a:tr h="519379">
                <a:tc>
                  <a:txBody>
                    <a:bodyPr/>
                    <a:lstStyle/>
                    <a:p>
                      <a:endParaRPr lang="en-AU" dirty="0"/>
                    </a:p>
                  </a:txBody>
                  <a:tcPr>
                    <a:solidFill>
                      <a:schemeClr val="bg2"/>
                    </a:solidFill>
                  </a:tcPr>
                </a:tc>
                <a:tc>
                  <a:txBody>
                    <a:bodyPr/>
                    <a:lstStyle/>
                    <a:p>
                      <a:endParaRPr lang="en-AU" dirty="0"/>
                    </a:p>
                  </a:txBody>
                  <a:tcPr>
                    <a:solidFill>
                      <a:schemeClr val="bg2"/>
                    </a:solidFill>
                  </a:tcPr>
                </a:tc>
                <a:tc>
                  <a:txBody>
                    <a:bodyPr/>
                    <a:lstStyle/>
                    <a:p>
                      <a:endParaRPr lang="en-AU" dirty="0"/>
                    </a:p>
                  </a:txBody>
                  <a:tcPr>
                    <a:solidFill>
                      <a:schemeClr val="bg2"/>
                    </a:solidFill>
                  </a:tcPr>
                </a:tc>
                <a:extLst>
                  <a:ext uri="{0D108BD9-81ED-4DB2-BD59-A6C34878D82A}">
                    <a16:rowId xmlns:a16="http://schemas.microsoft.com/office/drawing/2014/main" val="784884179"/>
                  </a:ext>
                </a:extLst>
              </a:tr>
              <a:tr h="519379">
                <a:tc>
                  <a:txBody>
                    <a:bodyPr/>
                    <a:lstStyle/>
                    <a:p>
                      <a:endParaRPr lang="en-AU"/>
                    </a:p>
                  </a:txBody>
                  <a:tcPr>
                    <a:solidFill>
                      <a:schemeClr val="bg2"/>
                    </a:solidFill>
                  </a:tcPr>
                </a:tc>
                <a:tc>
                  <a:txBody>
                    <a:bodyPr/>
                    <a:lstStyle/>
                    <a:p>
                      <a:endParaRPr lang="en-AU"/>
                    </a:p>
                  </a:txBody>
                  <a:tcPr>
                    <a:solidFill>
                      <a:schemeClr val="bg2"/>
                    </a:solidFill>
                  </a:tcPr>
                </a:tc>
                <a:tc>
                  <a:txBody>
                    <a:bodyPr/>
                    <a:lstStyle/>
                    <a:p>
                      <a:endParaRPr lang="en-AU" dirty="0"/>
                    </a:p>
                  </a:txBody>
                  <a:tcPr>
                    <a:solidFill>
                      <a:schemeClr val="bg2"/>
                    </a:solidFill>
                  </a:tcPr>
                </a:tc>
                <a:extLst>
                  <a:ext uri="{0D108BD9-81ED-4DB2-BD59-A6C34878D82A}">
                    <a16:rowId xmlns:a16="http://schemas.microsoft.com/office/drawing/2014/main" val="3870853828"/>
                  </a:ext>
                </a:extLst>
              </a:tr>
            </a:tbl>
          </a:graphicData>
        </a:graphic>
      </p:graphicFrame>
      <p:sp>
        <p:nvSpPr>
          <p:cNvPr id="3" name="Rectangle 2">
            <a:extLst>
              <a:ext uri="{FF2B5EF4-FFF2-40B4-BE49-F238E27FC236}">
                <a16:creationId xmlns:a16="http://schemas.microsoft.com/office/drawing/2014/main" id="{9FAB4EB6-3773-94AC-82E4-E05DDCC7AAD3}"/>
              </a:ext>
            </a:extLst>
          </p:cNvPr>
          <p:cNvSpPr/>
          <p:nvPr/>
        </p:nvSpPr>
        <p:spPr>
          <a:xfrm>
            <a:off x="1" y="6644641"/>
            <a:ext cx="12191999" cy="213360"/>
          </a:xfrm>
          <a:prstGeom prst="rect">
            <a:avLst/>
          </a:prstGeom>
          <a:solidFill>
            <a:srgbClr val="008F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5" name="Picture 4">
            <a:extLst>
              <a:ext uri="{FF2B5EF4-FFF2-40B4-BE49-F238E27FC236}">
                <a16:creationId xmlns:a16="http://schemas.microsoft.com/office/drawing/2014/main" id="{8E8A7EE4-A576-7B4A-870E-D87F2AA5BAF6}"/>
              </a:ext>
            </a:extLst>
          </p:cNvPr>
          <p:cNvPicPr>
            <a:picLocks noChangeAspect="1"/>
          </p:cNvPicPr>
          <p:nvPr/>
        </p:nvPicPr>
        <p:blipFill>
          <a:blip r:embed="rId2"/>
          <a:stretch>
            <a:fillRect/>
          </a:stretch>
        </p:blipFill>
        <p:spPr>
          <a:xfrm>
            <a:off x="10683185" y="141848"/>
            <a:ext cx="1341230" cy="640375"/>
          </a:xfrm>
          <a:prstGeom prst="rect">
            <a:avLst/>
          </a:prstGeom>
        </p:spPr>
      </p:pic>
    </p:spTree>
    <p:extLst>
      <p:ext uri="{BB962C8B-B14F-4D97-AF65-F5344CB8AC3E}">
        <p14:creationId xmlns:p14="http://schemas.microsoft.com/office/powerpoint/2010/main" val="257918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Table 16">
            <a:extLst>
              <a:ext uri="{FF2B5EF4-FFF2-40B4-BE49-F238E27FC236}">
                <a16:creationId xmlns:a16="http://schemas.microsoft.com/office/drawing/2014/main" id="{2E462D1D-8AC8-3377-AFAA-71A2D79E2692}"/>
              </a:ext>
            </a:extLst>
          </p:cNvPr>
          <p:cNvGraphicFramePr>
            <a:graphicFrameLocks noGrp="1"/>
          </p:cNvGraphicFramePr>
          <p:nvPr>
            <p:extLst>
              <p:ext uri="{D42A27DB-BD31-4B8C-83A1-F6EECF244321}">
                <p14:modId xmlns:p14="http://schemas.microsoft.com/office/powerpoint/2010/main" val="3346880325"/>
              </p:ext>
            </p:extLst>
          </p:nvPr>
        </p:nvGraphicFramePr>
        <p:xfrm>
          <a:off x="0" y="1030672"/>
          <a:ext cx="12191998" cy="5581886"/>
        </p:xfrm>
        <a:graphic>
          <a:graphicData uri="http://schemas.openxmlformats.org/drawingml/2006/table">
            <a:tbl>
              <a:tblPr>
                <a:tableStyleId>{5C22544A-7EE6-4342-B048-85BDC9FD1C3A}</a:tableStyleId>
              </a:tblPr>
              <a:tblGrid>
                <a:gridCol w="7193280">
                  <a:extLst>
                    <a:ext uri="{9D8B030D-6E8A-4147-A177-3AD203B41FA5}">
                      <a16:colId xmlns:a16="http://schemas.microsoft.com/office/drawing/2014/main" val="476662512"/>
                    </a:ext>
                  </a:extLst>
                </a:gridCol>
                <a:gridCol w="4998718">
                  <a:extLst>
                    <a:ext uri="{9D8B030D-6E8A-4147-A177-3AD203B41FA5}">
                      <a16:colId xmlns:a16="http://schemas.microsoft.com/office/drawing/2014/main" val="3970282166"/>
                    </a:ext>
                  </a:extLst>
                </a:gridCol>
              </a:tblGrid>
              <a:tr h="2790943">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9467425"/>
                  </a:ext>
                </a:extLst>
              </a:tr>
              <a:tr h="2790943">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7232355"/>
                  </a:ext>
                </a:extLst>
              </a:tr>
            </a:tbl>
          </a:graphicData>
        </a:graphic>
      </p:graphicFrame>
      <p:sp>
        <p:nvSpPr>
          <p:cNvPr id="10" name="Title 1">
            <a:extLst>
              <a:ext uri="{FF2B5EF4-FFF2-40B4-BE49-F238E27FC236}">
                <a16:creationId xmlns:a16="http://schemas.microsoft.com/office/drawing/2014/main" id="{A0639E5F-6387-433D-F0D9-2823A48DFF59}"/>
              </a:ext>
            </a:extLst>
          </p:cNvPr>
          <p:cNvSpPr>
            <a:spLocks noGrp="1"/>
          </p:cNvSpPr>
          <p:nvPr>
            <p:ph type="title"/>
          </p:nvPr>
        </p:nvSpPr>
        <p:spPr>
          <a:xfrm>
            <a:off x="647700" y="86831"/>
            <a:ext cx="10515600" cy="982091"/>
          </a:xfrm>
        </p:spPr>
        <p:txBody>
          <a:bodyPr>
            <a:normAutofit/>
          </a:bodyPr>
          <a:lstStyle/>
          <a:p>
            <a:r>
              <a:rPr lang="en-AU" sz="4000" dirty="0">
                <a:solidFill>
                  <a:srgbClr val="1A1A1A"/>
                </a:solidFill>
                <a:latin typeface="Proxima Nova Lt" panose="02000506030000020004" pitchFamily="2" charset="0"/>
              </a:rPr>
              <a:t>Logo do’s</a:t>
            </a:r>
          </a:p>
        </p:txBody>
      </p:sp>
      <p:pic>
        <p:nvPicPr>
          <p:cNvPr id="6" name="Picture 5">
            <a:extLst>
              <a:ext uri="{FF2B5EF4-FFF2-40B4-BE49-F238E27FC236}">
                <a16:creationId xmlns:a16="http://schemas.microsoft.com/office/drawing/2014/main" id="{7F482DDC-D9EC-061C-6890-12B565B8DFD9}"/>
              </a:ext>
            </a:extLst>
          </p:cNvPr>
          <p:cNvPicPr>
            <a:picLocks noChangeAspect="1"/>
          </p:cNvPicPr>
          <p:nvPr/>
        </p:nvPicPr>
        <p:blipFill>
          <a:blip r:embed="rId2"/>
          <a:stretch>
            <a:fillRect/>
          </a:stretch>
        </p:blipFill>
        <p:spPr>
          <a:xfrm>
            <a:off x="5091981" y="1234384"/>
            <a:ext cx="1417630" cy="723281"/>
          </a:xfrm>
          <a:prstGeom prst="rect">
            <a:avLst/>
          </a:prstGeom>
        </p:spPr>
      </p:pic>
      <p:sp>
        <p:nvSpPr>
          <p:cNvPr id="15" name="TextBox 14">
            <a:extLst>
              <a:ext uri="{FF2B5EF4-FFF2-40B4-BE49-F238E27FC236}">
                <a16:creationId xmlns:a16="http://schemas.microsoft.com/office/drawing/2014/main" id="{4ACE4390-4D96-213F-F261-0FBE83AAFD89}"/>
              </a:ext>
            </a:extLst>
          </p:cNvPr>
          <p:cNvSpPr txBox="1"/>
          <p:nvPr/>
        </p:nvSpPr>
        <p:spPr>
          <a:xfrm>
            <a:off x="487951" y="2083987"/>
            <a:ext cx="6065249" cy="923330"/>
          </a:xfrm>
          <a:prstGeom prst="rect">
            <a:avLst/>
          </a:prstGeom>
          <a:noFill/>
        </p:spPr>
        <p:txBody>
          <a:bodyPr wrap="square" rtlCol="0">
            <a:spAutoFit/>
          </a:bodyPr>
          <a:lstStyle/>
          <a:p>
            <a:r>
              <a:rPr lang="en-AU" dirty="0">
                <a:latin typeface="Proxima Nova Rg" panose="02000506030000020004" pitchFamily="50" charset="0"/>
              </a:rPr>
              <a:t>Keep AAGI separate from the logo block – up high where it can look like a project, allowing GRDC and strategic partners to look like the ones running it.</a:t>
            </a:r>
          </a:p>
        </p:txBody>
      </p:sp>
      <p:sp>
        <p:nvSpPr>
          <p:cNvPr id="18" name="TextBox 17">
            <a:extLst>
              <a:ext uri="{FF2B5EF4-FFF2-40B4-BE49-F238E27FC236}">
                <a16:creationId xmlns:a16="http://schemas.microsoft.com/office/drawing/2014/main" id="{6C6C1A8C-8ADA-B382-DBAD-8007C867C30A}"/>
              </a:ext>
            </a:extLst>
          </p:cNvPr>
          <p:cNvSpPr txBox="1"/>
          <p:nvPr/>
        </p:nvSpPr>
        <p:spPr>
          <a:xfrm>
            <a:off x="2368983" y="4319361"/>
            <a:ext cx="4519497" cy="1200329"/>
          </a:xfrm>
          <a:prstGeom prst="rect">
            <a:avLst/>
          </a:prstGeom>
          <a:noFill/>
        </p:spPr>
        <p:txBody>
          <a:bodyPr wrap="square" rtlCol="0">
            <a:spAutoFit/>
          </a:bodyPr>
          <a:lstStyle/>
          <a:p>
            <a:r>
              <a:rPr lang="en-AU" dirty="0">
                <a:latin typeface="Proxima Nova Rg" panose="02000506030000020004" pitchFamily="50" charset="0"/>
              </a:rPr>
              <a:t>Use the templates provided where possible.  Consistency is what strengthens the brand and makes all partners look like a team working together.</a:t>
            </a:r>
          </a:p>
        </p:txBody>
      </p:sp>
      <p:sp>
        <p:nvSpPr>
          <p:cNvPr id="19" name="TextBox 18">
            <a:extLst>
              <a:ext uri="{FF2B5EF4-FFF2-40B4-BE49-F238E27FC236}">
                <a16:creationId xmlns:a16="http://schemas.microsoft.com/office/drawing/2014/main" id="{BC45E5F3-0758-C2B3-9FFF-D1D4CEB67057}"/>
              </a:ext>
            </a:extLst>
          </p:cNvPr>
          <p:cNvSpPr txBox="1"/>
          <p:nvPr/>
        </p:nvSpPr>
        <p:spPr>
          <a:xfrm>
            <a:off x="8077542" y="3007317"/>
            <a:ext cx="3298428" cy="646331"/>
          </a:xfrm>
          <a:prstGeom prst="rect">
            <a:avLst/>
          </a:prstGeom>
          <a:noFill/>
        </p:spPr>
        <p:txBody>
          <a:bodyPr wrap="square" rtlCol="0">
            <a:spAutoFit/>
          </a:bodyPr>
          <a:lstStyle/>
          <a:p>
            <a:r>
              <a:rPr lang="en-AU" dirty="0">
                <a:latin typeface="Proxima Nova Rg" panose="02000506030000020004" pitchFamily="50" charset="0"/>
              </a:rPr>
              <a:t>On darker backgrounds, use the reversed version</a:t>
            </a:r>
          </a:p>
        </p:txBody>
      </p:sp>
      <p:pic>
        <p:nvPicPr>
          <p:cNvPr id="5" name="Picture 4">
            <a:extLst>
              <a:ext uri="{FF2B5EF4-FFF2-40B4-BE49-F238E27FC236}">
                <a16:creationId xmlns:a16="http://schemas.microsoft.com/office/drawing/2014/main" id="{867A58AD-0469-2D99-B41F-017F4680C6BA}"/>
              </a:ext>
            </a:extLst>
          </p:cNvPr>
          <p:cNvPicPr>
            <a:picLocks noChangeAspect="1"/>
          </p:cNvPicPr>
          <p:nvPr/>
        </p:nvPicPr>
        <p:blipFill>
          <a:blip r:embed="rId3"/>
          <a:stretch>
            <a:fillRect/>
          </a:stretch>
        </p:blipFill>
        <p:spPr>
          <a:xfrm>
            <a:off x="8145780" y="1295971"/>
            <a:ext cx="3072315" cy="1514577"/>
          </a:xfrm>
          <a:prstGeom prst="rect">
            <a:avLst/>
          </a:prstGeom>
        </p:spPr>
      </p:pic>
      <p:sp>
        <p:nvSpPr>
          <p:cNvPr id="14" name="TextBox 13">
            <a:extLst>
              <a:ext uri="{FF2B5EF4-FFF2-40B4-BE49-F238E27FC236}">
                <a16:creationId xmlns:a16="http://schemas.microsoft.com/office/drawing/2014/main" id="{C01BB82D-5080-4CB0-CA66-72A34BE64A67}"/>
              </a:ext>
            </a:extLst>
          </p:cNvPr>
          <p:cNvSpPr txBox="1"/>
          <p:nvPr/>
        </p:nvSpPr>
        <p:spPr>
          <a:xfrm>
            <a:off x="9552011" y="4319362"/>
            <a:ext cx="2310384" cy="1200329"/>
          </a:xfrm>
          <a:prstGeom prst="rect">
            <a:avLst/>
          </a:prstGeom>
          <a:noFill/>
        </p:spPr>
        <p:txBody>
          <a:bodyPr wrap="square" rtlCol="0">
            <a:spAutoFit/>
          </a:bodyPr>
          <a:lstStyle/>
          <a:p>
            <a:r>
              <a:rPr lang="en-AU" dirty="0">
                <a:latin typeface="Proxima Nova Rg" panose="02000506030000020004" pitchFamily="50" charset="0"/>
              </a:rPr>
              <a:t>Use “Proxima Nova” font when writing AAGI material. If not available, use “Arial”.</a:t>
            </a:r>
          </a:p>
        </p:txBody>
      </p:sp>
      <p:pic>
        <p:nvPicPr>
          <p:cNvPr id="21" name="Picture 20">
            <a:extLst>
              <a:ext uri="{FF2B5EF4-FFF2-40B4-BE49-F238E27FC236}">
                <a16:creationId xmlns:a16="http://schemas.microsoft.com/office/drawing/2014/main" id="{93DA3027-4B89-B258-0E37-65A845640C0A}"/>
              </a:ext>
            </a:extLst>
          </p:cNvPr>
          <p:cNvPicPr>
            <a:picLocks noChangeAspect="1"/>
          </p:cNvPicPr>
          <p:nvPr/>
        </p:nvPicPr>
        <p:blipFill>
          <a:blip r:embed="rId4"/>
          <a:stretch>
            <a:fillRect/>
          </a:stretch>
        </p:blipFill>
        <p:spPr>
          <a:xfrm>
            <a:off x="7406640" y="4040044"/>
            <a:ext cx="1815769" cy="2293894"/>
          </a:xfrm>
          <a:prstGeom prst="rect">
            <a:avLst/>
          </a:prstGeom>
        </p:spPr>
      </p:pic>
      <p:pic>
        <p:nvPicPr>
          <p:cNvPr id="1026" name="Picture 2" descr="21,600+ Green Check Mark Illustrations, Royalty-Free Vector Graphics &amp; Clip  Art - iStock | Green check mark transparent, Green check mark icon, Green  check mark vector">
            <a:extLst>
              <a:ext uri="{FF2B5EF4-FFF2-40B4-BE49-F238E27FC236}">
                <a16:creationId xmlns:a16="http://schemas.microsoft.com/office/drawing/2014/main" id="{4E74839B-F12C-EC9F-3B28-6F8707EF7ED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3817" t="23071" r="16007" b="23171"/>
          <a:stretch/>
        </p:blipFill>
        <p:spPr bwMode="auto">
          <a:xfrm>
            <a:off x="6397534" y="3159153"/>
            <a:ext cx="741153" cy="56775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21,600+ Green Check Mark Illustrations, Royalty-Free Vector Graphics &amp; Clip  Art - iStock | Green check mark transparent, Green check mark icon, Green  check mark vector">
            <a:extLst>
              <a:ext uri="{FF2B5EF4-FFF2-40B4-BE49-F238E27FC236}">
                <a16:creationId xmlns:a16="http://schemas.microsoft.com/office/drawing/2014/main" id="{4526624E-1FA3-9D0C-5276-17266393845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3817" t="23071" r="16007" b="23171"/>
          <a:stretch/>
        </p:blipFill>
        <p:spPr bwMode="auto">
          <a:xfrm>
            <a:off x="6409725" y="5967730"/>
            <a:ext cx="741153" cy="567751"/>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21,600+ Green Check Mark Illustrations, Royalty-Free Vector Graphics &amp; Clip  Art - iStock | Green check mark transparent, Green check mark icon, Green  check mark vector">
            <a:extLst>
              <a:ext uri="{FF2B5EF4-FFF2-40B4-BE49-F238E27FC236}">
                <a16:creationId xmlns:a16="http://schemas.microsoft.com/office/drawing/2014/main" id="{D67B785A-5816-2F84-4C5B-6F277034697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3817" t="23071" r="16007" b="23171"/>
          <a:stretch/>
        </p:blipFill>
        <p:spPr bwMode="auto">
          <a:xfrm>
            <a:off x="11375970" y="3167210"/>
            <a:ext cx="741153" cy="567751"/>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21,600+ Green Check Mark Illustrations, Royalty-Free Vector Graphics &amp; Clip  Art - iStock | Green check mark transparent, Green check mark icon, Green  check mark vector">
            <a:extLst>
              <a:ext uri="{FF2B5EF4-FFF2-40B4-BE49-F238E27FC236}">
                <a16:creationId xmlns:a16="http://schemas.microsoft.com/office/drawing/2014/main" id="{B6AAF686-3B42-AB53-EDC3-A3E0A980D61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3817" t="23071" r="16007" b="23171"/>
          <a:stretch/>
        </p:blipFill>
        <p:spPr bwMode="auto">
          <a:xfrm>
            <a:off x="11375969" y="5949159"/>
            <a:ext cx="741153" cy="56775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8B9BFFC8-D29B-41B5-93B2-421CF86EDBE3}"/>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2225741" y="3145560"/>
            <a:ext cx="4065331" cy="581342"/>
          </a:xfrm>
          <a:prstGeom prst="rect">
            <a:avLst/>
          </a:prstGeom>
        </p:spPr>
      </p:pic>
      <p:pic>
        <p:nvPicPr>
          <p:cNvPr id="3" name="Picture 2">
            <a:extLst>
              <a:ext uri="{FF2B5EF4-FFF2-40B4-BE49-F238E27FC236}">
                <a16:creationId xmlns:a16="http://schemas.microsoft.com/office/drawing/2014/main" id="{3762B508-2128-FAF4-DAE2-91FA5FC40CBA}"/>
              </a:ext>
            </a:extLst>
          </p:cNvPr>
          <p:cNvPicPr>
            <a:picLocks noChangeAspect="1"/>
          </p:cNvPicPr>
          <p:nvPr/>
        </p:nvPicPr>
        <p:blipFill>
          <a:blip r:embed="rId7"/>
          <a:stretch>
            <a:fillRect/>
          </a:stretch>
        </p:blipFill>
        <p:spPr>
          <a:xfrm>
            <a:off x="268499" y="3983242"/>
            <a:ext cx="1795155" cy="2533668"/>
          </a:xfrm>
          <a:prstGeom prst="rect">
            <a:avLst/>
          </a:prstGeom>
          <a:ln w="3175">
            <a:solidFill>
              <a:schemeClr val="tx1"/>
            </a:solidFill>
          </a:ln>
        </p:spPr>
      </p:pic>
      <p:sp>
        <p:nvSpPr>
          <p:cNvPr id="4" name="Rectangle 3">
            <a:extLst>
              <a:ext uri="{FF2B5EF4-FFF2-40B4-BE49-F238E27FC236}">
                <a16:creationId xmlns:a16="http://schemas.microsoft.com/office/drawing/2014/main" id="{CF16C424-63A3-B25C-3DF4-7615507BB460}"/>
              </a:ext>
            </a:extLst>
          </p:cNvPr>
          <p:cNvSpPr/>
          <p:nvPr/>
        </p:nvSpPr>
        <p:spPr>
          <a:xfrm>
            <a:off x="1" y="6644641"/>
            <a:ext cx="12191999" cy="213360"/>
          </a:xfrm>
          <a:prstGeom prst="rect">
            <a:avLst/>
          </a:prstGeom>
          <a:solidFill>
            <a:srgbClr val="008F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774470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Table 16">
            <a:extLst>
              <a:ext uri="{FF2B5EF4-FFF2-40B4-BE49-F238E27FC236}">
                <a16:creationId xmlns:a16="http://schemas.microsoft.com/office/drawing/2014/main" id="{2E462D1D-8AC8-3377-AFAA-71A2D79E2692}"/>
              </a:ext>
            </a:extLst>
          </p:cNvPr>
          <p:cNvGraphicFramePr>
            <a:graphicFrameLocks noGrp="1"/>
          </p:cNvGraphicFramePr>
          <p:nvPr>
            <p:extLst>
              <p:ext uri="{D42A27DB-BD31-4B8C-83A1-F6EECF244321}">
                <p14:modId xmlns:p14="http://schemas.microsoft.com/office/powerpoint/2010/main" val="1497157229"/>
              </p:ext>
            </p:extLst>
          </p:nvPr>
        </p:nvGraphicFramePr>
        <p:xfrm>
          <a:off x="0" y="1038693"/>
          <a:ext cx="12191998" cy="5581886"/>
        </p:xfrm>
        <a:graphic>
          <a:graphicData uri="http://schemas.openxmlformats.org/drawingml/2006/table">
            <a:tbl>
              <a:tblPr>
                <a:tableStyleId>{5C22544A-7EE6-4342-B048-85BDC9FD1C3A}</a:tableStyleId>
              </a:tblPr>
              <a:tblGrid>
                <a:gridCol w="7193280">
                  <a:extLst>
                    <a:ext uri="{9D8B030D-6E8A-4147-A177-3AD203B41FA5}">
                      <a16:colId xmlns:a16="http://schemas.microsoft.com/office/drawing/2014/main" val="476662512"/>
                    </a:ext>
                  </a:extLst>
                </a:gridCol>
                <a:gridCol w="4998718">
                  <a:extLst>
                    <a:ext uri="{9D8B030D-6E8A-4147-A177-3AD203B41FA5}">
                      <a16:colId xmlns:a16="http://schemas.microsoft.com/office/drawing/2014/main" val="3970282166"/>
                    </a:ext>
                  </a:extLst>
                </a:gridCol>
              </a:tblGrid>
              <a:tr h="2790943">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9467425"/>
                  </a:ext>
                </a:extLst>
              </a:tr>
              <a:tr h="2790943">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7232355"/>
                  </a:ext>
                </a:extLst>
              </a:tr>
            </a:tbl>
          </a:graphicData>
        </a:graphic>
      </p:graphicFrame>
      <p:sp>
        <p:nvSpPr>
          <p:cNvPr id="10" name="Title 1">
            <a:extLst>
              <a:ext uri="{FF2B5EF4-FFF2-40B4-BE49-F238E27FC236}">
                <a16:creationId xmlns:a16="http://schemas.microsoft.com/office/drawing/2014/main" id="{A0639E5F-6387-433D-F0D9-2823A48DFF59}"/>
              </a:ext>
            </a:extLst>
          </p:cNvPr>
          <p:cNvSpPr>
            <a:spLocks noGrp="1"/>
          </p:cNvSpPr>
          <p:nvPr>
            <p:ph type="title"/>
          </p:nvPr>
        </p:nvSpPr>
        <p:spPr>
          <a:xfrm>
            <a:off x="647700" y="86831"/>
            <a:ext cx="10515600" cy="982091"/>
          </a:xfrm>
        </p:spPr>
        <p:txBody>
          <a:bodyPr>
            <a:normAutofit/>
          </a:bodyPr>
          <a:lstStyle/>
          <a:p>
            <a:r>
              <a:rPr lang="en-AU" sz="4000" dirty="0">
                <a:latin typeface="Proxima Nova Lt" panose="02000506030000020004" pitchFamily="2" charset="0"/>
              </a:rPr>
              <a:t>Logo don'ts</a:t>
            </a:r>
          </a:p>
        </p:txBody>
      </p:sp>
      <p:pic>
        <p:nvPicPr>
          <p:cNvPr id="6" name="Picture 5">
            <a:extLst>
              <a:ext uri="{FF2B5EF4-FFF2-40B4-BE49-F238E27FC236}">
                <a16:creationId xmlns:a16="http://schemas.microsoft.com/office/drawing/2014/main" id="{7F482DDC-D9EC-061C-6890-12B565B8DFD9}"/>
              </a:ext>
            </a:extLst>
          </p:cNvPr>
          <p:cNvPicPr>
            <a:picLocks noChangeAspect="1"/>
          </p:cNvPicPr>
          <p:nvPr/>
        </p:nvPicPr>
        <p:blipFill>
          <a:blip r:embed="rId2"/>
          <a:stretch>
            <a:fillRect/>
          </a:stretch>
        </p:blipFill>
        <p:spPr>
          <a:xfrm>
            <a:off x="427161" y="1383197"/>
            <a:ext cx="1417630" cy="723281"/>
          </a:xfrm>
          <a:prstGeom prst="rect">
            <a:avLst/>
          </a:prstGeom>
        </p:spPr>
      </p:pic>
      <p:pic>
        <p:nvPicPr>
          <p:cNvPr id="7" name="Picture 6">
            <a:extLst>
              <a:ext uri="{FF2B5EF4-FFF2-40B4-BE49-F238E27FC236}">
                <a16:creationId xmlns:a16="http://schemas.microsoft.com/office/drawing/2014/main" id="{13B1C373-BBEB-9C8D-5506-16C84C42BAED}"/>
              </a:ext>
            </a:extLst>
          </p:cNvPr>
          <p:cNvPicPr>
            <a:picLocks noChangeAspect="1"/>
          </p:cNvPicPr>
          <p:nvPr/>
        </p:nvPicPr>
        <p:blipFill rotWithShape="1">
          <a:blip r:embed="rId2"/>
          <a:srcRect r="57940"/>
          <a:stretch/>
        </p:blipFill>
        <p:spPr>
          <a:xfrm>
            <a:off x="7668429" y="4256832"/>
            <a:ext cx="1216948" cy="1476199"/>
          </a:xfrm>
          <a:prstGeom prst="rect">
            <a:avLst/>
          </a:prstGeom>
        </p:spPr>
      </p:pic>
      <p:pic>
        <p:nvPicPr>
          <p:cNvPr id="13" name="Picture 12">
            <a:extLst>
              <a:ext uri="{FF2B5EF4-FFF2-40B4-BE49-F238E27FC236}">
                <a16:creationId xmlns:a16="http://schemas.microsoft.com/office/drawing/2014/main" id="{0BBCF01F-8D3F-61E7-7BB2-C0D617634370}"/>
              </a:ext>
            </a:extLst>
          </p:cNvPr>
          <p:cNvPicPr>
            <a:picLocks noChangeAspect="1"/>
          </p:cNvPicPr>
          <p:nvPr/>
        </p:nvPicPr>
        <p:blipFill>
          <a:blip r:embed="rId2"/>
          <a:stretch>
            <a:fillRect/>
          </a:stretch>
        </p:blipFill>
        <p:spPr>
          <a:xfrm>
            <a:off x="2268180" y="4659236"/>
            <a:ext cx="2388766" cy="1218759"/>
          </a:xfrm>
          <a:prstGeom prst="rect">
            <a:avLst/>
          </a:prstGeom>
        </p:spPr>
      </p:pic>
      <p:pic>
        <p:nvPicPr>
          <p:cNvPr id="14" name="Picture 13">
            <a:extLst>
              <a:ext uri="{FF2B5EF4-FFF2-40B4-BE49-F238E27FC236}">
                <a16:creationId xmlns:a16="http://schemas.microsoft.com/office/drawing/2014/main" id="{02E32BAA-512D-AC5D-0EAF-D843EB749C5B}"/>
              </a:ext>
            </a:extLst>
          </p:cNvPr>
          <p:cNvPicPr>
            <a:picLocks noChangeAspect="1"/>
          </p:cNvPicPr>
          <p:nvPr/>
        </p:nvPicPr>
        <p:blipFill>
          <a:blip r:embed="rId2">
            <a:duotone>
              <a:schemeClr val="accent4">
                <a:shade val="45000"/>
                <a:satMod val="135000"/>
              </a:schemeClr>
              <a:prstClr val="white"/>
            </a:duotone>
          </a:blip>
          <a:stretch>
            <a:fillRect/>
          </a:stretch>
        </p:blipFill>
        <p:spPr>
          <a:xfrm>
            <a:off x="8229192" y="1486285"/>
            <a:ext cx="2641871" cy="1347894"/>
          </a:xfrm>
          <a:prstGeom prst="rect">
            <a:avLst/>
          </a:prstGeom>
        </p:spPr>
      </p:pic>
      <p:sp>
        <p:nvSpPr>
          <p:cNvPr id="15" name="TextBox 14">
            <a:extLst>
              <a:ext uri="{FF2B5EF4-FFF2-40B4-BE49-F238E27FC236}">
                <a16:creationId xmlns:a16="http://schemas.microsoft.com/office/drawing/2014/main" id="{4ACE4390-4D96-213F-F261-0FBE83AAFD89}"/>
              </a:ext>
            </a:extLst>
          </p:cNvPr>
          <p:cNvSpPr txBox="1"/>
          <p:nvPr/>
        </p:nvSpPr>
        <p:spPr>
          <a:xfrm>
            <a:off x="495571" y="2361905"/>
            <a:ext cx="5760720" cy="923330"/>
          </a:xfrm>
          <a:prstGeom prst="rect">
            <a:avLst/>
          </a:prstGeom>
          <a:noFill/>
        </p:spPr>
        <p:txBody>
          <a:bodyPr wrap="square" rtlCol="0">
            <a:spAutoFit/>
          </a:bodyPr>
          <a:lstStyle/>
          <a:p>
            <a:r>
              <a:rPr lang="en-AU" dirty="0">
                <a:latin typeface="Proxima Nova Rg" panose="02000506030000020004" pitchFamily="50" charset="0"/>
              </a:rPr>
              <a:t>Don’t put the AAGI logo near GRDC/strategic partner logo-block – this is confusing! Best to keep logo separate and up high in a corner</a:t>
            </a:r>
          </a:p>
        </p:txBody>
      </p:sp>
      <p:sp>
        <p:nvSpPr>
          <p:cNvPr id="16" name="TextBox 15">
            <a:extLst>
              <a:ext uri="{FF2B5EF4-FFF2-40B4-BE49-F238E27FC236}">
                <a16:creationId xmlns:a16="http://schemas.microsoft.com/office/drawing/2014/main" id="{AB043319-DB89-2798-1D52-11430EC9430C}"/>
              </a:ext>
            </a:extLst>
          </p:cNvPr>
          <p:cNvSpPr txBox="1"/>
          <p:nvPr/>
        </p:nvSpPr>
        <p:spPr>
          <a:xfrm>
            <a:off x="495571" y="5964160"/>
            <a:ext cx="5847352" cy="369332"/>
          </a:xfrm>
          <a:prstGeom prst="rect">
            <a:avLst/>
          </a:prstGeom>
          <a:noFill/>
        </p:spPr>
        <p:txBody>
          <a:bodyPr wrap="square" rtlCol="0">
            <a:spAutoFit/>
          </a:bodyPr>
          <a:lstStyle/>
          <a:p>
            <a:r>
              <a:rPr lang="en-AU" dirty="0">
                <a:latin typeface="Proxima Nova Rg" panose="02000506030000020004" pitchFamily="50" charset="0"/>
              </a:rPr>
              <a:t>Never put AAGI under GRDC/strategic partner logos</a:t>
            </a:r>
          </a:p>
        </p:txBody>
      </p:sp>
      <p:sp>
        <p:nvSpPr>
          <p:cNvPr id="18" name="TextBox 17">
            <a:extLst>
              <a:ext uri="{FF2B5EF4-FFF2-40B4-BE49-F238E27FC236}">
                <a16:creationId xmlns:a16="http://schemas.microsoft.com/office/drawing/2014/main" id="{6C6C1A8C-8ADA-B382-DBAD-8007C867C30A}"/>
              </a:ext>
            </a:extLst>
          </p:cNvPr>
          <p:cNvSpPr txBox="1"/>
          <p:nvPr/>
        </p:nvSpPr>
        <p:spPr>
          <a:xfrm>
            <a:off x="7756264" y="5858577"/>
            <a:ext cx="3407036" cy="369332"/>
          </a:xfrm>
          <a:prstGeom prst="rect">
            <a:avLst/>
          </a:prstGeom>
          <a:noFill/>
        </p:spPr>
        <p:txBody>
          <a:bodyPr wrap="square" rtlCol="0">
            <a:spAutoFit/>
          </a:bodyPr>
          <a:lstStyle/>
          <a:p>
            <a:r>
              <a:rPr lang="en-AU" dirty="0">
                <a:latin typeface="Proxima Nova Rg" panose="02000506030000020004" pitchFamily="50" charset="0"/>
              </a:rPr>
              <a:t>Never alter the logo</a:t>
            </a:r>
          </a:p>
        </p:txBody>
      </p:sp>
      <p:sp>
        <p:nvSpPr>
          <p:cNvPr id="19" name="TextBox 18">
            <a:extLst>
              <a:ext uri="{FF2B5EF4-FFF2-40B4-BE49-F238E27FC236}">
                <a16:creationId xmlns:a16="http://schemas.microsoft.com/office/drawing/2014/main" id="{BC45E5F3-0758-C2B3-9FFF-D1D4CEB67057}"/>
              </a:ext>
            </a:extLst>
          </p:cNvPr>
          <p:cNvSpPr txBox="1"/>
          <p:nvPr/>
        </p:nvSpPr>
        <p:spPr>
          <a:xfrm>
            <a:off x="7756264" y="3047366"/>
            <a:ext cx="3558774" cy="369332"/>
          </a:xfrm>
          <a:prstGeom prst="rect">
            <a:avLst/>
          </a:prstGeom>
          <a:noFill/>
        </p:spPr>
        <p:txBody>
          <a:bodyPr wrap="square" rtlCol="0">
            <a:spAutoFit/>
          </a:bodyPr>
          <a:lstStyle/>
          <a:p>
            <a:r>
              <a:rPr lang="en-AU" dirty="0">
                <a:latin typeface="Proxima Nova Rg" panose="02000506030000020004" pitchFamily="50" charset="0"/>
              </a:rPr>
              <a:t>Never change the logo colours</a:t>
            </a:r>
          </a:p>
        </p:txBody>
      </p:sp>
      <p:pic>
        <p:nvPicPr>
          <p:cNvPr id="20" name="Picture 19">
            <a:extLst>
              <a:ext uri="{FF2B5EF4-FFF2-40B4-BE49-F238E27FC236}">
                <a16:creationId xmlns:a16="http://schemas.microsoft.com/office/drawing/2014/main" id="{7E7A6FB8-60EC-95F8-4E02-A210744E33CA}"/>
              </a:ext>
            </a:extLst>
          </p:cNvPr>
          <p:cNvPicPr>
            <a:picLocks noChangeAspect="1"/>
          </p:cNvPicPr>
          <p:nvPr/>
        </p:nvPicPr>
        <p:blipFill rotWithShape="1">
          <a:blip r:embed="rId2"/>
          <a:srcRect l="42019" r="6842" b="57858"/>
          <a:stretch/>
        </p:blipFill>
        <p:spPr>
          <a:xfrm>
            <a:off x="8885377" y="4392623"/>
            <a:ext cx="2865121" cy="1204616"/>
          </a:xfrm>
          <a:prstGeom prst="rect">
            <a:avLst/>
          </a:prstGeom>
        </p:spPr>
      </p:pic>
      <p:pic>
        <p:nvPicPr>
          <p:cNvPr id="2050" name="Picture 2" descr="Red X&quot; Images – Browse 225 Stock Photos, Vectors, and Video | Adobe Stock">
            <a:extLst>
              <a:ext uri="{FF2B5EF4-FFF2-40B4-BE49-F238E27FC236}">
                <a16:creationId xmlns:a16="http://schemas.microsoft.com/office/drawing/2014/main" id="{85FF8E08-381E-C17D-3A76-978E9D6202E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889" t="9633" r="12066" b="8190"/>
          <a:stretch/>
        </p:blipFill>
        <p:spPr bwMode="auto">
          <a:xfrm>
            <a:off x="6492240" y="3078612"/>
            <a:ext cx="611903" cy="65264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Red X&quot; Images – Browse 225 Stock Photos, Vectors, and Video | Adobe Stock">
            <a:extLst>
              <a:ext uri="{FF2B5EF4-FFF2-40B4-BE49-F238E27FC236}">
                <a16:creationId xmlns:a16="http://schemas.microsoft.com/office/drawing/2014/main" id="{4A935234-5EAF-1491-A774-C0C9F894DA6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889" t="9633" r="12066" b="8190"/>
          <a:stretch/>
        </p:blipFill>
        <p:spPr bwMode="auto">
          <a:xfrm>
            <a:off x="6492239" y="5858577"/>
            <a:ext cx="611903" cy="65264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Red X&quot; Images – Browse 225 Stock Photos, Vectors, and Video | Adobe Stock">
            <a:extLst>
              <a:ext uri="{FF2B5EF4-FFF2-40B4-BE49-F238E27FC236}">
                <a16:creationId xmlns:a16="http://schemas.microsoft.com/office/drawing/2014/main" id="{927BFB97-4E96-A782-7091-50406765A2C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889" t="9633" r="12066" b="8190"/>
          <a:stretch/>
        </p:blipFill>
        <p:spPr bwMode="auto">
          <a:xfrm>
            <a:off x="11497056" y="3090374"/>
            <a:ext cx="611903" cy="65264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Red X&quot; Images – Browse 225 Stock Photos, Vectors, and Video | Adobe Stock">
            <a:extLst>
              <a:ext uri="{FF2B5EF4-FFF2-40B4-BE49-F238E27FC236}">
                <a16:creationId xmlns:a16="http://schemas.microsoft.com/office/drawing/2014/main" id="{AE2D1FD6-6E96-2AA2-D5E9-7D4D6E22596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889" t="9633" r="12066" b="8190"/>
          <a:stretch/>
        </p:blipFill>
        <p:spPr bwMode="auto">
          <a:xfrm>
            <a:off x="11497055" y="5877995"/>
            <a:ext cx="611903" cy="65264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0749A7CE-816D-1D1A-207C-56E259B107C2}"/>
              </a:ext>
            </a:extLst>
          </p:cNvPr>
          <p:cNvPicPr>
            <a:picLocks noChangeAspect="1"/>
          </p:cNvPicPr>
          <p:nvPr/>
        </p:nvPicPr>
        <p:blipFill>
          <a:blip r:embed="rId4">
            <a:extLst>
              <a:ext uri="{28A0092B-C50C-407E-A947-70E740481C1C}">
                <a14:useLocalDpi xmlns:a14="http://schemas.microsoft.com/office/drawing/2010/main" val="0"/>
              </a:ext>
            </a:extLst>
          </a:blip>
          <a:srcRect l="2535" r="2535"/>
          <a:stretch/>
        </p:blipFill>
        <p:spPr>
          <a:xfrm>
            <a:off x="1844791" y="1374382"/>
            <a:ext cx="5259351" cy="792247"/>
          </a:xfrm>
          <a:prstGeom prst="rect">
            <a:avLst/>
          </a:prstGeom>
        </p:spPr>
      </p:pic>
      <p:pic>
        <p:nvPicPr>
          <p:cNvPr id="9" name="Picture 8">
            <a:extLst>
              <a:ext uri="{FF2B5EF4-FFF2-40B4-BE49-F238E27FC236}">
                <a16:creationId xmlns:a16="http://schemas.microsoft.com/office/drawing/2014/main" id="{0E484A57-4078-658A-DC3D-8CF274DC8FD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44337" y="3980426"/>
            <a:ext cx="5447902" cy="779050"/>
          </a:xfrm>
          <a:prstGeom prst="rect">
            <a:avLst/>
          </a:prstGeom>
        </p:spPr>
      </p:pic>
      <p:sp>
        <p:nvSpPr>
          <p:cNvPr id="8" name="Rectangle 7">
            <a:extLst>
              <a:ext uri="{FF2B5EF4-FFF2-40B4-BE49-F238E27FC236}">
                <a16:creationId xmlns:a16="http://schemas.microsoft.com/office/drawing/2014/main" id="{FF1C7249-871F-27A2-0302-5AAA26FBFF20}"/>
              </a:ext>
            </a:extLst>
          </p:cNvPr>
          <p:cNvSpPr/>
          <p:nvPr/>
        </p:nvSpPr>
        <p:spPr>
          <a:xfrm>
            <a:off x="1" y="6644641"/>
            <a:ext cx="12191999" cy="213360"/>
          </a:xfrm>
          <a:prstGeom prst="rect">
            <a:avLst/>
          </a:prstGeom>
          <a:solidFill>
            <a:srgbClr val="008F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7830676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F156FAED-605F-5243-F46F-1E7EFCDA12EC}"/>
              </a:ext>
            </a:extLst>
          </p:cNvPr>
          <p:cNvSpPr txBox="1"/>
          <p:nvPr/>
        </p:nvSpPr>
        <p:spPr>
          <a:xfrm>
            <a:off x="767937" y="1751216"/>
            <a:ext cx="10656126" cy="1477328"/>
          </a:xfrm>
          <a:prstGeom prst="rect">
            <a:avLst/>
          </a:prstGeom>
          <a:noFill/>
        </p:spPr>
        <p:txBody>
          <a:bodyPr wrap="square" rtlCol="0">
            <a:spAutoFit/>
          </a:bodyPr>
          <a:lstStyle/>
          <a:p>
            <a:pPr marL="285750" indent="-285750">
              <a:buFont typeface="Arial" panose="020B0604020202020204" pitchFamily="34" charset="0"/>
              <a:buChar char="•"/>
            </a:pPr>
            <a:r>
              <a:rPr lang="en-AU" dirty="0">
                <a:solidFill>
                  <a:srgbClr val="1A1A1A"/>
                </a:solidFill>
                <a:latin typeface="Proxima Nova Rg" panose="02000506030000020004" pitchFamily="50" charset="0"/>
              </a:rPr>
              <a:t>AAGI logo continues to be positioned up high and separate. </a:t>
            </a:r>
          </a:p>
          <a:p>
            <a:pPr marL="285750" indent="-285750">
              <a:buFont typeface="Arial" panose="020B0604020202020204" pitchFamily="34" charset="0"/>
              <a:buChar char="•"/>
            </a:pPr>
            <a:endParaRPr lang="en-AU" dirty="0">
              <a:solidFill>
                <a:srgbClr val="1A1A1A"/>
              </a:solidFill>
              <a:latin typeface="Proxima Nova Rg" panose="02000506030000020004" pitchFamily="50" charset="0"/>
            </a:endParaRPr>
          </a:p>
          <a:p>
            <a:pPr marL="285750" indent="-285750">
              <a:buFont typeface="Arial" panose="020B0604020202020204" pitchFamily="34" charset="0"/>
              <a:buChar char="•"/>
            </a:pPr>
            <a:r>
              <a:rPr lang="en-AU" dirty="0">
                <a:solidFill>
                  <a:srgbClr val="1A1A1A"/>
                </a:solidFill>
                <a:latin typeface="Proxima Nova Rg" panose="02000506030000020004" pitchFamily="50" charset="0"/>
              </a:rPr>
              <a:t>The logo block stays the same, with project partner positioned at the end.</a:t>
            </a:r>
          </a:p>
          <a:p>
            <a:endParaRPr lang="en-AU" dirty="0">
              <a:solidFill>
                <a:srgbClr val="1A1A1A"/>
              </a:solidFill>
              <a:latin typeface="Proxima Nova Rg" panose="02000506030000020004" pitchFamily="50" charset="0"/>
            </a:endParaRPr>
          </a:p>
          <a:p>
            <a:pPr marL="285750" indent="-285750">
              <a:buFont typeface="Arial" panose="020B0604020202020204" pitchFamily="34" charset="0"/>
              <a:buChar char="•"/>
            </a:pPr>
            <a:r>
              <a:rPr lang="en-AU" dirty="0">
                <a:solidFill>
                  <a:srgbClr val="1A1A1A"/>
                </a:solidFill>
                <a:latin typeface="Proxima Nova Rg" panose="02000506030000020004" pitchFamily="50" charset="0"/>
              </a:rPr>
              <a:t>An example in Portrait:</a:t>
            </a:r>
          </a:p>
        </p:txBody>
      </p:sp>
      <p:sp>
        <p:nvSpPr>
          <p:cNvPr id="16" name="Title 1">
            <a:extLst>
              <a:ext uri="{FF2B5EF4-FFF2-40B4-BE49-F238E27FC236}">
                <a16:creationId xmlns:a16="http://schemas.microsoft.com/office/drawing/2014/main" id="{67DF9ED5-7D8B-8F15-0A01-21D30A7112CC}"/>
              </a:ext>
            </a:extLst>
          </p:cNvPr>
          <p:cNvSpPr txBox="1">
            <a:spLocks/>
          </p:cNvSpPr>
          <p:nvPr/>
        </p:nvSpPr>
        <p:spPr>
          <a:xfrm>
            <a:off x="749490" y="389625"/>
            <a:ext cx="8919949" cy="98209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endParaRPr lang="en-AU" sz="3200" dirty="0">
              <a:latin typeface="Proxima Nova Lt" panose="02000506030000020004" pitchFamily="2" charset="0"/>
            </a:endParaRPr>
          </a:p>
        </p:txBody>
      </p:sp>
      <p:sp>
        <p:nvSpPr>
          <p:cNvPr id="2" name="Title 1">
            <a:extLst>
              <a:ext uri="{FF2B5EF4-FFF2-40B4-BE49-F238E27FC236}">
                <a16:creationId xmlns:a16="http://schemas.microsoft.com/office/drawing/2014/main" id="{42581458-3123-F00E-92F3-A82F1CB757E0}"/>
              </a:ext>
            </a:extLst>
          </p:cNvPr>
          <p:cNvSpPr txBox="1">
            <a:spLocks/>
          </p:cNvSpPr>
          <p:nvPr/>
        </p:nvSpPr>
        <p:spPr>
          <a:xfrm>
            <a:off x="712686" y="622270"/>
            <a:ext cx="11479313" cy="749446"/>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20000"/>
              </a:lnSpc>
            </a:pPr>
            <a:r>
              <a:rPr lang="en-AU" sz="4000" dirty="0">
                <a:latin typeface="Proxima Nova Lt" panose="02000506030000020004" pitchFamily="2" charset="0"/>
              </a:rPr>
              <a:t>The Logo Block - Incorporating a project partner</a:t>
            </a:r>
          </a:p>
        </p:txBody>
      </p:sp>
      <p:sp>
        <p:nvSpPr>
          <p:cNvPr id="3" name="TextBox 2">
            <a:extLst>
              <a:ext uri="{FF2B5EF4-FFF2-40B4-BE49-F238E27FC236}">
                <a16:creationId xmlns:a16="http://schemas.microsoft.com/office/drawing/2014/main" id="{40D4FD4A-56AB-FEEA-53E2-D9E630A69747}"/>
              </a:ext>
            </a:extLst>
          </p:cNvPr>
          <p:cNvSpPr txBox="1"/>
          <p:nvPr/>
        </p:nvSpPr>
        <p:spPr>
          <a:xfrm>
            <a:off x="712686" y="4960739"/>
            <a:ext cx="10656126" cy="369332"/>
          </a:xfrm>
          <a:prstGeom prst="rect">
            <a:avLst/>
          </a:prstGeom>
          <a:noFill/>
        </p:spPr>
        <p:txBody>
          <a:bodyPr wrap="square" rtlCol="0">
            <a:spAutoFit/>
          </a:bodyPr>
          <a:lstStyle/>
          <a:p>
            <a:pPr marL="285750" indent="-285750">
              <a:buFont typeface="Arial" panose="020B0604020202020204" pitchFamily="34" charset="0"/>
              <a:buChar char="•"/>
            </a:pPr>
            <a:r>
              <a:rPr lang="en-AU" dirty="0">
                <a:solidFill>
                  <a:srgbClr val="1A1A1A"/>
                </a:solidFill>
                <a:latin typeface="Proxima Nova Rg" panose="02000506030000020004" pitchFamily="50" charset="0"/>
              </a:rPr>
              <a:t>An example in Landscape: </a:t>
            </a:r>
          </a:p>
        </p:txBody>
      </p:sp>
      <p:pic>
        <p:nvPicPr>
          <p:cNvPr id="5" name="Picture 4">
            <a:extLst>
              <a:ext uri="{FF2B5EF4-FFF2-40B4-BE49-F238E27FC236}">
                <a16:creationId xmlns:a16="http://schemas.microsoft.com/office/drawing/2014/main" id="{8D1B7D34-A60B-9EC3-325E-59C69801458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98451" y="3391593"/>
            <a:ext cx="9832841" cy="1406097"/>
          </a:xfrm>
          <a:prstGeom prst="rect">
            <a:avLst/>
          </a:prstGeom>
        </p:spPr>
      </p:pic>
      <p:pic>
        <p:nvPicPr>
          <p:cNvPr id="8" name="Picture 7">
            <a:extLst>
              <a:ext uri="{FF2B5EF4-FFF2-40B4-BE49-F238E27FC236}">
                <a16:creationId xmlns:a16="http://schemas.microsoft.com/office/drawing/2014/main" id="{1282C8BC-4731-704C-4295-E4D591B5AD9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 y="5493119"/>
            <a:ext cx="12191995" cy="822959"/>
          </a:xfrm>
          <a:prstGeom prst="rect">
            <a:avLst/>
          </a:prstGeom>
        </p:spPr>
      </p:pic>
      <p:sp>
        <p:nvSpPr>
          <p:cNvPr id="4" name="Rectangle 3">
            <a:extLst>
              <a:ext uri="{FF2B5EF4-FFF2-40B4-BE49-F238E27FC236}">
                <a16:creationId xmlns:a16="http://schemas.microsoft.com/office/drawing/2014/main" id="{D5D36520-DB99-02D6-FE3B-137BFEF98D28}"/>
              </a:ext>
            </a:extLst>
          </p:cNvPr>
          <p:cNvSpPr/>
          <p:nvPr/>
        </p:nvSpPr>
        <p:spPr>
          <a:xfrm>
            <a:off x="1" y="6644641"/>
            <a:ext cx="12191999" cy="213360"/>
          </a:xfrm>
          <a:prstGeom prst="rect">
            <a:avLst/>
          </a:prstGeom>
          <a:solidFill>
            <a:srgbClr val="008F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0158299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20FF183-45C0-C126-E4B9-1AA31D1F674E}"/>
              </a:ext>
            </a:extLst>
          </p:cNvPr>
          <p:cNvSpPr/>
          <p:nvPr/>
        </p:nvSpPr>
        <p:spPr>
          <a:xfrm>
            <a:off x="1" y="6644641"/>
            <a:ext cx="12191999" cy="213360"/>
          </a:xfrm>
          <a:prstGeom prst="rect">
            <a:avLst/>
          </a:prstGeom>
          <a:solidFill>
            <a:srgbClr val="008F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6" name="Picture 15" descr="A field of grass and blue sky&#10;&#10;Description automatically generated">
            <a:extLst>
              <a:ext uri="{FF2B5EF4-FFF2-40B4-BE49-F238E27FC236}">
                <a16:creationId xmlns:a16="http://schemas.microsoft.com/office/drawing/2014/main" id="{074DC064-BDAE-C2ED-CD06-6E71FBE8D052}"/>
              </a:ext>
            </a:extLst>
          </p:cNvPr>
          <p:cNvPicPr>
            <a:picLocks noChangeAspect="1"/>
          </p:cNvPicPr>
          <p:nvPr/>
        </p:nvPicPr>
        <p:blipFill rotWithShape="1">
          <a:blip r:embed="rId2">
            <a:extLst>
              <a:ext uri="{28A0092B-C50C-407E-A947-70E740481C1C}">
                <a14:useLocalDpi xmlns:a14="http://schemas.microsoft.com/office/drawing/2010/main" val="0"/>
              </a:ext>
            </a:extLst>
          </a:blip>
          <a:srcRect t="40245" b="37512"/>
          <a:stretch/>
        </p:blipFill>
        <p:spPr>
          <a:xfrm>
            <a:off x="-1" y="4135273"/>
            <a:ext cx="12207365" cy="1810366"/>
          </a:xfrm>
          <a:prstGeom prst="rect">
            <a:avLst/>
          </a:prstGeom>
        </p:spPr>
      </p:pic>
      <p:pic>
        <p:nvPicPr>
          <p:cNvPr id="4" name="Picture 3">
            <a:extLst>
              <a:ext uri="{FF2B5EF4-FFF2-40B4-BE49-F238E27FC236}">
                <a16:creationId xmlns:a16="http://schemas.microsoft.com/office/drawing/2014/main" id="{2B93FF43-D09D-828C-FE0B-3E0DB2B43338}"/>
              </a:ext>
            </a:extLst>
          </p:cNvPr>
          <p:cNvPicPr>
            <a:picLocks noChangeAspect="1"/>
          </p:cNvPicPr>
          <p:nvPr/>
        </p:nvPicPr>
        <p:blipFill>
          <a:blip r:embed="rId3">
            <a:extLst>
              <a:ext uri="{28A0092B-C50C-407E-A947-70E740481C1C}">
                <a14:useLocalDpi xmlns:a14="http://schemas.microsoft.com/office/drawing/2010/main" val="0"/>
              </a:ext>
            </a:extLst>
          </a:blip>
          <a:srcRect t="18905" b="18905"/>
          <a:stretch/>
        </p:blipFill>
        <p:spPr>
          <a:xfrm>
            <a:off x="0" y="6075820"/>
            <a:ext cx="12192001" cy="511791"/>
          </a:xfrm>
          <a:prstGeom prst="rect">
            <a:avLst/>
          </a:prstGeom>
        </p:spPr>
      </p:pic>
      <p:sp>
        <p:nvSpPr>
          <p:cNvPr id="7" name="TextBox 6">
            <a:extLst>
              <a:ext uri="{FF2B5EF4-FFF2-40B4-BE49-F238E27FC236}">
                <a16:creationId xmlns:a16="http://schemas.microsoft.com/office/drawing/2014/main" id="{43CC81BF-DCEB-1CC0-A9AA-59AD8E9CA105}"/>
              </a:ext>
            </a:extLst>
          </p:cNvPr>
          <p:cNvSpPr txBox="1"/>
          <p:nvPr/>
        </p:nvSpPr>
        <p:spPr>
          <a:xfrm>
            <a:off x="2421697" y="2122562"/>
            <a:ext cx="7363968" cy="1200329"/>
          </a:xfrm>
          <a:prstGeom prst="rect">
            <a:avLst/>
          </a:prstGeom>
          <a:noFill/>
        </p:spPr>
        <p:txBody>
          <a:bodyPr wrap="square" rtlCol="0">
            <a:spAutoFit/>
          </a:bodyPr>
          <a:lstStyle/>
          <a:p>
            <a:pPr algn="ctr"/>
            <a:r>
              <a:rPr lang="en-AU" dirty="0">
                <a:latin typeface="Proxima Nova Rg" panose="02000506030000020004" pitchFamily="50" charset="0"/>
              </a:rPr>
              <a:t>If you have any questions about these guidelines, please contact:</a:t>
            </a:r>
            <a:br>
              <a:rPr lang="en-AU" dirty="0">
                <a:latin typeface="Proxima Nova Rg" panose="02000506030000020004" pitchFamily="50" charset="0"/>
              </a:rPr>
            </a:br>
            <a:endParaRPr lang="en-AU" dirty="0">
              <a:latin typeface="Proxima Nova Rg" panose="02000506030000020004" pitchFamily="50" charset="0"/>
            </a:endParaRPr>
          </a:p>
          <a:p>
            <a:pPr algn="ctr"/>
            <a:r>
              <a:rPr lang="en-AU" b="1" dirty="0">
                <a:latin typeface="Proxima Nova Rg" panose="02000506030000020004" pitchFamily="50" charset="0"/>
              </a:rPr>
              <a:t>Lisa Smith, CCDM Communications</a:t>
            </a:r>
          </a:p>
          <a:p>
            <a:pPr algn="ctr"/>
            <a:r>
              <a:rPr lang="en-AU" dirty="0">
                <a:latin typeface="Proxima Nova Rg" panose="02000506030000020004" pitchFamily="50" charset="0"/>
              </a:rPr>
              <a:t>Email: lisa.smith1@curtin.edu.au</a:t>
            </a:r>
          </a:p>
        </p:txBody>
      </p:sp>
      <p:pic>
        <p:nvPicPr>
          <p:cNvPr id="5" name="Picture 4">
            <a:extLst>
              <a:ext uri="{FF2B5EF4-FFF2-40B4-BE49-F238E27FC236}">
                <a16:creationId xmlns:a16="http://schemas.microsoft.com/office/drawing/2014/main" id="{49AAF487-CE3B-E06B-0895-B1B2ED649D4E}"/>
              </a:ext>
            </a:extLst>
          </p:cNvPr>
          <p:cNvPicPr>
            <a:picLocks noChangeAspect="1"/>
          </p:cNvPicPr>
          <p:nvPr/>
        </p:nvPicPr>
        <p:blipFill>
          <a:blip r:embed="rId4"/>
          <a:stretch>
            <a:fillRect/>
          </a:stretch>
        </p:blipFill>
        <p:spPr>
          <a:xfrm>
            <a:off x="4882767" y="257701"/>
            <a:ext cx="2441827" cy="1165859"/>
          </a:xfrm>
          <a:prstGeom prst="rect">
            <a:avLst/>
          </a:prstGeom>
        </p:spPr>
      </p:pic>
    </p:spTree>
    <p:extLst>
      <p:ext uri="{BB962C8B-B14F-4D97-AF65-F5344CB8AC3E}">
        <p14:creationId xmlns:p14="http://schemas.microsoft.com/office/powerpoint/2010/main" val="35593816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2108</TotalTime>
  <Words>738</Words>
  <Application>Microsoft Office PowerPoint</Application>
  <PresentationFormat>Widescreen</PresentationFormat>
  <Paragraphs>75</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Calibri Light</vt:lpstr>
      <vt:lpstr>Proxima Nova Lt</vt:lpstr>
      <vt:lpstr>Proxima Nova Medium</vt:lpstr>
      <vt:lpstr>Proxima Nova Rg</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Cover Slide template</vt:lpstr>
      <vt:lpstr>Slide template and table template</vt:lpstr>
      <vt:lpstr>Logo do’s</vt:lpstr>
      <vt:lpstr>Logo don'ts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Megan Jones</dc:creator>
  <cp:lastModifiedBy>Lisa Smith</cp:lastModifiedBy>
  <cp:revision>35</cp:revision>
  <dcterms:created xsi:type="dcterms:W3CDTF">2023-06-19T09:17:35Z</dcterms:created>
  <dcterms:modified xsi:type="dcterms:W3CDTF">2026-04-16T05:48:48Z</dcterms:modified>
</cp:coreProperties>
</file>